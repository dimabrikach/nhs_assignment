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60" r:id="rId6"/>
    <p:sldId id="261" r:id="rId7"/>
    <p:sldId id="263" r:id="rId8"/>
    <p:sldId id="277" r:id="rId9"/>
    <p:sldId id="265" r:id="rId10"/>
    <p:sldId id="266" r:id="rId11"/>
    <p:sldId id="273" r:id="rId12"/>
    <p:sldId id="267" r:id="rId13"/>
    <p:sldId id="268" r:id="rId14"/>
    <p:sldId id="269" r:id="rId15"/>
    <p:sldId id="274" r:id="rId16"/>
    <p:sldId id="270" r:id="rId17"/>
    <p:sldId id="271" r:id="rId18"/>
    <p:sldId id="272" r:id="rId19"/>
    <p:sldId id="275"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5" autoAdjust="0"/>
    <p:restoredTop sz="94660"/>
  </p:normalViewPr>
  <p:slideViewPr>
    <p:cSldViewPr snapToGrid="0">
      <p:cViewPr varScale="1">
        <p:scale>
          <a:sx n="97" d="100"/>
          <a:sy n="97" d="100"/>
        </p:scale>
        <p:origin x="131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F1ED71-FDE2-4B5F-9526-C566EBDD4E2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F35F4A5-697F-4376-B12E-3732F66D992E}">
      <dgm:prSet/>
      <dgm:spPr/>
      <dgm:t>
        <a:bodyPr/>
        <a:lstStyle/>
        <a:p>
          <a:pPr>
            <a:defRPr cap="all"/>
          </a:pPr>
          <a:r>
            <a:rPr lang="en-US" dirty="0"/>
            <a:t>Total number of unattended appointments : </a:t>
          </a:r>
          <a:r>
            <a:rPr lang="en-US" b="1" dirty="0"/>
            <a:t>13,318,384</a:t>
          </a:r>
        </a:p>
      </dgm:t>
    </dgm:pt>
    <dgm:pt modelId="{02EDD181-A398-4CB8-B1A7-8D68C81B22C3}" type="parTrans" cxnId="{FE8D066B-1E5A-4FE2-B78B-044198480A43}">
      <dgm:prSet/>
      <dgm:spPr/>
      <dgm:t>
        <a:bodyPr/>
        <a:lstStyle/>
        <a:p>
          <a:endParaRPr lang="en-US"/>
        </a:p>
      </dgm:t>
    </dgm:pt>
    <dgm:pt modelId="{5A13BC0E-3517-4253-B296-DD5851B5AA30}" type="sibTrans" cxnId="{FE8D066B-1E5A-4FE2-B78B-044198480A43}">
      <dgm:prSet/>
      <dgm:spPr/>
      <dgm:t>
        <a:bodyPr/>
        <a:lstStyle/>
        <a:p>
          <a:endParaRPr lang="en-US"/>
        </a:p>
      </dgm:t>
    </dgm:pt>
    <dgm:pt modelId="{E82D8B3D-CB07-4065-8645-44B79273088B}">
      <dgm:prSet/>
      <dgm:spPr/>
      <dgm:t>
        <a:bodyPr/>
        <a:lstStyle/>
        <a:p>
          <a:pPr>
            <a:defRPr cap="all"/>
          </a:pPr>
          <a:r>
            <a:rPr lang="en-US" dirty="0"/>
            <a:t>Total number of appointments share: </a:t>
          </a:r>
          <a:r>
            <a:rPr lang="en-US" b="1" dirty="0"/>
            <a:t>4.50%</a:t>
          </a:r>
        </a:p>
      </dgm:t>
    </dgm:pt>
    <dgm:pt modelId="{D3FA459C-AEA3-4FE0-B18D-9C86070DAF34}" type="parTrans" cxnId="{6DE8D845-6A0C-4DC6-9840-DB8D60C8FAA1}">
      <dgm:prSet/>
      <dgm:spPr/>
      <dgm:t>
        <a:bodyPr/>
        <a:lstStyle/>
        <a:p>
          <a:endParaRPr lang="en-US"/>
        </a:p>
      </dgm:t>
    </dgm:pt>
    <dgm:pt modelId="{BBD1101F-CBDE-4343-BF39-35B73FB44295}" type="sibTrans" cxnId="{6DE8D845-6A0C-4DC6-9840-DB8D60C8FAA1}">
      <dgm:prSet/>
      <dgm:spPr/>
      <dgm:t>
        <a:bodyPr/>
        <a:lstStyle/>
        <a:p>
          <a:endParaRPr lang="en-US"/>
        </a:p>
      </dgm:t>
    </dgm:pt>
    <dgm:pt modelId="{D26A0D2E-7F1F-41CC-AEA4-CCDA7FA52648}" type="pres">
      <dgm:prSet presAssocID="{34F1ED71-FDE2-4B5F-9526-C566EBDD4E2F}" presName="root" presStyleCnt="0">
        <dgm:presLayoutVars>
          <dgm:dir/>
          <dgm:resizeHandles val="exact"/>
        </dgm:presLayoutVars>
      </dgm:prSet>
      <dgm:spPr/>
    </dgm:pt>
    <dgm:pt modelId="{0A0A3319-FEA4-4B02-8ABF-FC00EEE82F3F}" type="pres">
      <dgm:prSet presAssocID="{8F35F4A5-697F-4376-B12E-3732F66D992E}" presName="compNode" presStyleCnt="0"/>
      <dgm:spPr/>
    </dgm:pt>
    <dgm:pt modelId="{026AB6D8-A107-45EA-90AB-AFC18D13FCDE}" type="pres">
      <dgm:prSet presAssocID="{8F35F4A5-697F-4376-B12E-3732F66D992E}" presName="iconBgRect" presStyleLbl="bgShp" presStyleIdx="0" presStyleCnt="2"/>
      <dgm:spPr/>
    </dgm:pt>
    <dgm:pt modelId="{4CAE3F02-7738-496A-89D8-C55EDB7DFDDD}" type="pres">
      <dgm:prSet presAssocID="{8F35F4A5-697F-4376-B12E-3732F66D99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A69A3D70-1CA3-4874-8406-3B72E2495BF9}" type="pres">
      <dgm:prSet presAssocID="{8F35F4A5-697F-4376-B12E-3732F66D992E}" presName="spaceRect" presStyleCnt="0"/>
      <dgm:spPr/>
    </dgm:pt>
    <dgm:pt modelId="{A25FE09F-B3E1-434D-A6A7-60D471FB1D98}" type="pres">
      <dgm:prSet presAssocID="{8F35F4A5-697F-4376-B12E-3732F66D992E}" presName="textRect" presStyleLbl="revTx" presStyleIdx="0" presStyleCnt="2">
        <dgm:presLayoutVars>
          <dgm:chMax val="1"/>
          <dgm:chPref val="1"/>
        </dgm:presLayoutVars>
      </dgm:prSet>
      <dgm:spPr/>
    </dgm:pt>
    <dgm:pt modelId="{505EBADF-AFA4-442E-80A5-11B7BBCF9E80}" type="pres">
      <dgm:prSet presAssocID="{5A13BC0E-3517-4253-B296-DD5851B5AA30}" presName="sibTrans" presStyleCnt="0"/>
      <dgm:spPr/>
    </dgm:pt>
    <dgm:pt modelId="{189EA097-2B5B-425B-AE37-A7077002B710}" type="pres">
      <dgm:prSet presAssocID="{E82D8B3D-CB07-4065-8645-44B79273088B}" presName="compNode" presStyleCnt="0"/>
      <dgm:spPr/>
    </dgm:pt>
    <dgm:pt modelId="{E91E625C-4364-4245-A1F5-CC4F36F02EB7}" type="pres">
      <dgm:prSet presAssocID="{E82D8B3D-CB07-4065-8645-44B79273088B}" presName="iconBgRect" presStyleLbl="bgShp" presStyleIdx="1" presStyleCnt="2"/>
      <dgm:spPr/>
    </dgm:pt>
    <dgm:pt modelId="{579197CE-5198-4229-AF3F-29124442D98D}" type="pres">
      <dgm:prSet presAssocID="{E82D8B3D-CB07-4065-8645-44B79273088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ily Calendar"/>
        </a:ext>
      </dgm:extLst>
    </dgm:pt>
    <dgm:pt modelId="{FBB45AFD-ADB5-40B1-BFCE-23A73C9B18A5}" type="pres">
      <dgm:prSet presAssocID="{E82D8B3D-CB07-4065-8645-44B79273088B}" presName="spaceRect" presStyleCnt="0"/>
      <dgm:spPr/>
    </dgm:pt>
    <dgm:pt modelId="{C348A9CF-F8BF-4EB2-B494-D40020566A44}" type="pres">
      <dgm:prSet presAssocID="{E82D8B3D-CB07-4065-8645-44B79273088B}" presName="textRect" presStyleLbl="revTx" presStyleIdx="1" presStyleCnt="2">
        <dgm:presLayoutVars>
          <dgm:chMax val="1"/>
          <dgm:chPref val="1"/>
        </dgm:presLayoutVars>
      </dgm:prSet>
      <dgm:spPr/>
    </dgm:pt>
  </dgm:ptLst>
  <dgm:cxnLst>
    <dgm:cxn modelId="{CFC9E612-76FC-4BEB-8759-12C8D7A8093C}" type="presOf" srcId="{E82D8B3D-CB07-4065-8645-44B79273088B}" destId="{C348A9CF-F8BF-4EB2-B494-D40020566A44}" srcOrd="0" destOrd="0" presId="urn:microsoft.com/office/officeart/2018/5/layout/IconCircleLabelList"/>
    <dgm:cxn modelId="{275F345F-4DCD-49A0-994F-8B87FC68C674}" type="presOf" srcId="{8F35F4A5-697F-4376-B12E-3732F66D992E}" destId="{A25FE09F-B3E1-434D-A6A7-60D471FB1D98}" srcOrd="0" destOrd="0" presId="urn:microsoft.com/office/officeart/2018/5/layout/IconCircleLabelList"/>
    <dgm:cxn modelId="{6DE8D845-6A0C-4DC6-9840-DB8D60C8FAA1}" srcId="{34F1ED71-FDE2-4B5F-9526-C566EBDD4E2F}" destId="{E82D8B3D-CB07-4065-8645-44B79273088B}" srcOrd="1" destOrd="0" parTransId="{D3FA459C-AEA3-4FE0-B18D-9C86070DAF34}" sibTransId="{BBD1101F-CBDE-4343-BF39-35B73FB44295}"/>
    <dgm:cxn modelId="{FE8D066B-1E5A-4FE2-B78B-044198480A43}" srcId="{34F1ED71-FDE2-4B5F-9526-C566EBDD4E2F}" destId="{8F35F4A5-697F-4376-B12E-3732F66D992E}" srcOrd="0" destOrd="0" parTransId="{02EDD181-A398-4CB8-B1A7-8D68C81B22C3}" sibTransId="{5A13BC0E-3517-4253-B296-DD5851B5AA30}"/>
    <dgm:cxn modelId="{0613E394-3AAF-4CA4-9192-68169672CF9A}" type="presOf" srcId="{34F1ED71-FDE2-4B5F-9526-C566EBDD4E2F}" destId="{D26A0D2E-7F1F-41CC-AEA4-CCDA7FA52648}" srcOrd="0" destOrd="0" presId="urn:microsoft.com/office/officeart/2018/5/layout/IconCircleLabelList"/>
    <dgm:cxn modelId="{87ED32C8-2DFB-4CDF-8EA0-EAF6F697841E}" type="presParOf" srcId="{D26A0D2E-7F1F-41CC-AEA4-CCDA7FA52648}" destId="{0A0A3319-FEA4-4B02-8ABF-FC00EEE82F3F}" srcOrd="0" destOrd="0" presId="urn:microsoft.com/office/officeart/2018/5/layout/IconCircleLabelList"/>
    <dgm:cxn modelId="{A95A182D-FD42-473F-BE97-1AD3E2BAFB8A}" type="presParOf" srcId="{0A0A3319-FEA4-4B02-8ABF-FC00EEE82F3F}" destId="{026AB6D8-A107-45EA-90AB-AFC18D13FCDE}" srcOrd="0" destOrd="0" presId="urn:microsoft.com/office/officeart/2018/5/layout/IconCircleLabelList"/>
    <dgm:cxn modelId="{ADA87514-B73C-4661-9381-3354BDD236C5}" type="presParOf" srcId="{0A0A3319-FEA4-4B02-8ABF-FC00EEE82F3F}" destId="{4CAE3F02-7738-496A-89D8-C55EDB7DFDDD}" srcOrd="1" destOrd="0" presId="urn:microsoft.com/office/officeart/2018/5/layout/IconCircleLabelList"/>
    <dgm:cxn modelId="{456B8BE7-1D58-4667-96E8-152E6D6D4D88}" type="presParOf" srcId="{0A0A3319-FEA4-4B02-8ABF-FC00EEE82F3F}" destId="{A69A3D70-1CA3-4874-8406-3B72E2495BF9}" srcOrd="2" destOrd="0" presId="urn:microsoft.com/office/officeart/2018/5/layout/IconCircleLabelList"/>
    <dgm:cxn modelId="{B2BAE6F3-557A-46D6-9CED-D32E6915B4B0}" type="presParOf" srcId="{0A0A3319-FEA4-4B02-8ABF-FC00EEE82F3F}" destId="{A25FE09F-B3E1-434D-A6A7-60D471FB1D98}" srcOrd="3" destOrd="0" presId="urn:microsoft.com/office/officeart/2018/5/layout/IconCircleLabelList"/>
    <dgm:cxn modelId="{BDD4DDE9-2D2F-4EC1-B314-B1122524B2A5}" type="presParOf" srcId="{D26A0D2E-7F1F-41CC-AEA4-CCDA7FA52648}" destId="{505EBADF-AFA4-442E-80A5-11B7BBCF9E80}" srcOrd="1" destOrd="0" presId="urn:microsoft.com/office/officeart/2018/5/layout/IconCircleLabelList"/>
    <dgm:cxn modelId="{E7D8B40A-3ACD-4E1A-9900-3FBD9B4CCD1C}" type="presParOf" srcId="{D26A0D2E-7F1F-41CC-AEA4-CCDA7FA52648}" destId="{189EA097-2B5B-425B-AE37-A7077002B710}" srcOrd="2" destOrd="0" presId="urn:microsoft.com/office/officeart/2018/5/layout/IconCircleLabelList"/>
    <dgm:cxn modelId="{F4040FFA-FBB9-41EB-B4E4-170AD58AFC61}" type="presParOf" srcId="{189EA097-2B5B-425B-AE37-A7077002B710}" destId="{E91E625C-4364-4245-A1F5-CC4F36F02EB7}" srcOrd="0" destOrd="0" presId="urn:microsoft.com/office/officeart/2018/5/layout/IconCircleLabelList"/>
    <dgm:cxn modelId="{FA939944-6B4D-4B76-A59A-87AD685318B7}" type="presParOf" srcId="{189EA097-2B5B-425B-AE37-A7077002B710}" destId="{579197CE-5198-4229-AF3F-29124442D98D}" srcOrd="1" destOrd="0" presId="urn:microsoft.com/office/officeart/2018/5/layout/IconCircleLabelList"/>
    <dgm:cxn modelId="{A4178314-8737-44F0-B640-B98DCD3E3A62}" type="presParOf" srcId="{189EA097-2B5B-425B-AE37-A7077002B710}" destId="{FBB45AFD-ADB5-40B1-BFCE-23A73C9B18A5}" srcOrd="2" destOrd="0" presId="urn:microsoft.com/office/officeart/2018/5/layout/IconCircleLabelList"/>
    <dgm:cxn modelId="{2B5352C9-7C39-4D56-B35D-E0C09EA3F432}" type="presParOf" srcId="{189EA097-2B5B-425B-AE37-A7077002B710}" destId="{C348A9CF-F8BF-4EB2-B494-D40020566A4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AB6D8-A107-45EA-90AB-AFC18D13FCDE}">
      <dsp:nvSpPr>
        <dsp:cNvPr id="0" name=""/>
        <dsp:cNvSpPr/>
      </dsp:nvSpPr>
      <dsp:spPr>
        <a:xfrm>
          <a:off x="1816199" y="62805"/>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AE3F02-7738-496A-89D8-C55EDB7DFDDD}">
      <dsp:nvSpPr>
        <dsp:cNvPr id="0" name=""/>
        <dsp:cNvSpPr/>
      </dsp:nvSpPr>
      <dsp:spPr>
        <a:xfrm>
          <a:off x="2284199" y="530805"/>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5FE09F-B3E1-434D-A6A7-60D471FB1D98}">
      <dsp:nvSpPr>
        <dsp:cNvPr id="0" name=""/>
        <dsp:cNvSpPr/>
      </dsp:nvSpPr>
      <dsp:spPr>
        <a:xfrm>
          <a:off x="1114199" y="2942806"/>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Total number of unattended appointments : </a:t>
          </a:r>
          <a:r>
            <a:rPr lang="en-US" sz="1800" b="1" kern="1200" dirty="0"/>
            <a:t>13,318,384</a:t>
          </a:r>
        </a:p>
      </dsp:txBody>
      <dsp:txXfrm>
        <a:off x="1114199" y="2942806"/>
        <a:ext cx="3600000" cy="720000"/>
      </dsp:txXfrm>
    </dsp:sp>
    <dsp:sp modelId="{E91E625C-4364-4245-A1F5-CC4F36F02EB7}">
      <dsp:nvSpPr>
        <dsp:cNvPr id="0" name=""/>
        <dsp:cNvSpPr/>
      </dsp:nvSpPr>
      <dsp:spPr>
        <a:xfrm>
          <a:off x="6046199" y="62805"/>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9197CE-5198-4229-AF3F-29124442D98D}">
      <dsp:nvSpPr>
        <dsp:cNvPr id="0" name=""/>
        <dsp:cNvSpPr/>
      </dsp:nvSpPr>
      <dsp:spPr>
        <a:xfrm>
          <a:off x="6514199" y="530805"/>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48A9CF-F8BF-4EB2-B494-D40020566A44}">
      <dsp:nvSpPr>
        <dsp:cNvPr id="0" name=""/>
        <dsp:cNvSpPr/>
      </dsp:nvSpPr>
      <dsp:spPr>
        <a:xfrm>
          <a:off x="5344199" y="2942806"/>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Total number of appointments share: </a:t>
          </a:r>
          <a:r>
            <a:rPr lang="en-US" sz="1800" b="1" kern="1200" dirty="0"/>
            <a:t>4.50%</a:t>
          </a:r>
        </a:p>
      </dsp:txBody>
      <dsp:txXfrm>
        <a:off x="5344199" y="2942806"/>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1277F-AEA0-4B67-8B2D-A87FD778909F}" type="datetimeFigureOut">
              <a:rPr lang="en-US" smtClean="0"/>
              <a:t>8/11/2025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EFEA87-F2AE-4F1A-AC75-CA3F1DD4527A}" type="slidenum">
              <a:rPr lang="en-US" smtClean="0"/>
              <a:t>‹#›</a:t>
            </a:fld>
            <a:endParaRPr lang="en-US"/>
          </a:p>
        </p:txBody>
      </p:sp>
    </p:spTree>
    <p:extLst>
      <p:ext uri="{BB962C8B-B14F-4D97-AF65-F5344CB8AC3E}">
        <p14:creationId xmlns:p14="http://schemas.microsoft.com/office/powerpoint/2010/main" val="1522125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This presentation, prepared by Dzmitry </a:t>
            </a:r>
            <a:r>
              <a:rPr lang="en-US" dirty="0" err="1"/>
              <a:t>Brykach</a:t>
            </a:r>
            <a:r>
              <a:rPr lang="en-US" dirty="0"/>
              <a:t>, explores comprehensive data analysis within the NHS. It highlights key findings, trends, and insights derived from NHS data. The analysis aims to support informed decision-making and enhance the effectiveness of healthcare delivery.</a:t>
            </a:r>
          </a:p>
        </p:txBody>
      </p:sp>
      <p:sp>
        <p:nvSpPr>
          <p:cNvPr id="4" name="Slide Number Placeholder 3"/>
          <p:cNvSpPr>
            <a:spLocks noGrp="1"/>
          </p:cNvSpPr>
          <p:nvPr>
            <p:ph type="sldNum" sz="quarter" idx="5"/>
          </p:nvPr>
        </p:nvSpPr>
        <p:spPr/>
        <p:txBody>
          <a:bodyPr/>
          <a:lstStyle/>
          <a:p>
            <a:fld id="{007E48A8-4E9E-4165-82AB-6A320FD76246}" type="slidenum">
              <a:rPr lang="en-US" smtClean="0"/>
              <a:t>1</a:t>
            </a:fld>
            <a:endParaRPr lang="en-US"/>
          </a:p>
        </p:txBody>
      </p:sp>
    </p:spTree>
    <p:extLst>
      <p:ext uri="{BB962C8B-B14F-4D97-AF65-F5344CB8AC3E}">
        <p14:creationId xmlns:p14="http://schemas.microsoft.com/office/powerpoint/2010/main" val="3341201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The NHS projects a capacity of 1,200,000 appointments per day, aiming to meet increasing healthcare demands. This ambitious target supports faster patient access and reduced waiting times. Achieving this goal will require enhanced resource allocation, workforce optimization, and technological advancements in healthcare delivery.</a:t>
            </a:r>
          </a:p>
        </p:txBody>
      </p:sp>
      <p:sp>
        <p:nvSpPr>
          <p:cNvPr id="4" name="Slide Number Placeholder 3"/>
          <p:cNvSpPr>
            <a:spLocks noGrp="1"/>
          </p:cNvSpPr>
          <p:nvPr>
            <p:ph type="sldNum" sz="quarter" idx="5"/>
          </p:nvPr>
        </p:nvSpPr>
        <p:spPr/>
        <p:txBody>
          <a:bodyPr/>
          <a:lstStyle/>
          <a:p>
            <a:fld id="{25EFEA87-F2AE-4F1A-AC75-CA3F1DD4527A}" type="slidenum">
              <a:rPr lang="en-US" smtClean="0"/>
              <a:t>9</a:t>
            </a:fld>
            <a:endParaRPr lang="en-US"/>
          </a:p>
        </p:txBody>
      </p:sp>
    </p:spTree>
    <p:extLst>
      <p:ext uri="{BB962C8B-B14F-4D97-AF65-F5344CB8AC3E}">
        <p14:creationId xmlns:p14="http://schemas.microsoft.com/office/powerpoint/2010/main" val="16573394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6209C3AD-CB44-4E33-9929-457506B13B58}" type="datetimeFigureOut">
              <a:rPr lang="en-US" smtClean="0"/>
              <a:t>8/11/2025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DAA090C-0165-41E2-8ADB-34E5017EA7F5}" type="slidenum">
              <a:rPr lang="en-US" smtClean="0"/>
              <a:t>‹#›</a:t>
            </a:fld>
            <a:endParaRPr lang="en-US"/>
          </a:p>
        </p:txBody>
      </p:sp>
    </p:spTree>
    <p:extLst>
      <p:ext uri="{BB962C8B-B14F-4D97-AF65-F5344CB8AC3E}">
        <p14:creationId xmlns:p14="http://schemas.microsoft.com/office/powerpoint/2010/main" val="152920332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09C3AD-CB44-4E33-9929-457506B13B58}" type="datetimeFigureOut">
              <a:rPr lang="en-US" smtClean="0"/>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110282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209C3AD-CB44-4E33-9929-457506B13B58}" type="datetimeFigureOut">
              <a:rPr lang="en-US" smtClean="0"/>
              <a:t>8/11/2025</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203451656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09C3AD-CB44-4E33-9929-457506B13B58}"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321175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09C3AD-CB44-4E33-9929-457506B13B58}" type="datetimeFigureOut">
              <a:rPr lang="en-US" smtClean="0"/>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177015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09C3AD-CB44-4E33-9929-457506B13B58}" type="datetimeFigureOut">
              <a:rPr lang="en-US" smtClean="0"/>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2564116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9C3AD-CB44-4E33-9929-457506B13B58}" type="datetimeFigureOut">
              <a:rPr lang="en-US" smtClean="0"/>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3566051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209C3AD-CB44-4E33-9929-457506B13B58}" type="datetimeFigureOut">
              <a:rPr lang="en-US" smtClean="0"/>
              <a:t>8/11/2025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DAA090C-0165-41E2-8ADB-34E5017EA7F5}"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3320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6209C3AD-CB44-4E33-9929-457506B13B58}" type="datetimeFigureOut">
              <a:rPr lang="en-US" smtClean="0"/>
              <a:t>8/11/2025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DAA090C-0165-41E2-8ADB-34E5017EA7F5}"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80390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9C3AD-CB44-4E33-9929-457506B13B58}"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1084873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9C3AD-CB44-4E33-9929-457506B13B58}"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A090C-0165-41E2-8ADB-34E5017EA7F5}" type="slidenum">
              <a:rPr lang="en-US" smtClean="0"/>
              <a:t>‹#›</a:t>
            </a:fld>
            <a:endParaRPr lang="en-US"/>
          </a:p>
        </p:txBody>
      </p:sp>
    </p:spTree>
    <p:extLst>
      <p:ext uri="{BB962C8B-B14F-4D97-AF65-F5344CB8AC3E}">
        <p14:creationId xmlns:p14="http://schemas.microsoft.com/office/powerpoint/2010/main" val="190355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tileRect/>
        </a:gra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209C3AD-CB44-4E33-9929-457506B13B58}" type="datetimeFigureOut">
              <a:rPr lang="en-US" smtClean="0"/>
              <a:t>8/11/2025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DAA090C-0165-41E2-8ADB-34E5017EA7F5}" type="slidenum">
              <a:rPr lang="en-US" smtClean="0"/>
              <a:t>‹#›</a:t>
            </a:fld>
            <a:endParaRPr lang="en-US"/>
          </a:p>
        </p:txBody>
      </p:sp>
    </p:spTree>
    <p:extLst>
      <p:ext uri="{BB962C8B-B14F-4D97-AF65-F5344CB8AC3E}">
        <p14:creationId xmlns:p14="http://schemas.microsoft.com/office/powerpoint/2010/main" val="4153928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hyperlink" Target="https://www.florenceroadsurgery.nhs.uk/2025/04/10/understanding-the-impact-of-missed-appointments-on-the-nhs/"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5A54E-D310-4585-877A-8BD4C3773E0C}"/>
              </a:ext>
            </a:extLst>
          </p:cNvPr>
          <p:cNvSpPr>
            <a:spLocks noGrp="1"/>
          </p:cNvSpPr>
          <p:nvPr>
            <p:ph type="title"/>
          </p:nvPr>
        </p:nvSpPr>
        <p:spPr>
          <a:xfrm>
            <a:off x="6417733" y="490537"/>
            <a:ext cx="5291663" cy="1628775"/>
          </a:xfrm>
        </p:spPr>
        <p:txBody>
          <a:bodyPr vert="horz" lIns="91440" tIns="45720" rIns="91440" bIns="45720" rtlCol="0" anchor="b">
            <a:normAutofit/>
          </a:bodyPr>
          <a:lstStyle/>
          <a:p>
            <a:pPr algn="ctr"/>
            <a:r>
              <a:rPr lang="en-US" sz="4000" b="1" dirty="0"/>
              <a:t>NHS Data Analysis </a:t>
            </a:r>
            <a:br>
              <a:rPr lang="en-US" sz="4000" b="1" dirty="0"/>
            </a:br>
            <a:r>
              <a:rPr lang="en-US" sz="1600" b="1" dirty="0"/>
              <a:t>by Dzmitry </a:t>
            </a:r>
            <a:r>
              <a:rPr lang="en-US" sz="1600" b="1" dirty="0" err="1"/>
              <a:t>Brykach</a:t>
            </a:r>
            <a:endParaRPr lang="en-US" sz="1600" b="1" dirty="0"/>
          </a:p>
        </p:txBody>
      </p:sp>
      <p:pic>
        <p:nvPicPr>
          <p:cNvPr id="5" name="Content Placeholder 4" descr="Doctor drawing healthcare icons on a virtual screen.">
            <a:extLst>
              <a:ext uri="{FF2B5EF4-FFF2-40B4-BE49-F238E27FC236}">
                <a16:creationId xmlns:a16="http://schemas.microsoft.com/office/drawing/2014/main" id="{E23E1645-99E5-4800-952C-302F4216D632}"/>
              </a:ext>
            </a:extLst>
          </p:cNvPr>
          <p:cNvPicPr>
            <a:picLocks noGrp="1" noChangeAspect="1"/>
          </p:cNvPicPr>
          <p:nvPr>
            <p:ph sz="half" idx="1"/>
          </p:nvPr>
        </p:nvPicPr>
        <p:blipFill>
          <a:blip r:embed="rId3"/>
          <a:srcRect l="28873" r="-1" b="-1"/>
          <a:stretch>
            <a:fillRect/>
          </a:stretch>
        </p:blipFill>
        <p:spPr>
          <a:xfrm>
            <a:off x="2" y="1587"/>
            <a:ext cx="6194321"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4" name="Content Placeholder 3">
            <a:extLst>
              <a:ext uri="{FF2B5EF4-FFF2-40B4-BE49-F238E27FC236}">
                <a16:creationId xmlns:a16="http://schemas.microsoft.com/office/drawing/2014/main" id="{1FE49205-51A4-51FC-E05D-81B9ABA8A04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17734" y="2614612"/>
            <a:ext cx="5291663" cy="3752849"/>
          </a:xfrm>
        </p:spPr>
        <p:txBody>
          <a:bodyPr>
            <a:normAutofit lnSpcReduction="10000"/>
          </a:bodyPr>
          <a:lstStyle/>
          <a:p>
            <a:pPr marL="0" indent="0">
              <a:spcBef>
                <a:spcPts val="2500"/>
              </a:spcBef>
              <a:buFont typeface="Arial" panose="020B0604020202020204" pitchFamily="34" charset="0"/>
              <a:buNone/>
            </a:pPr>
            <a:r>
              <a:rPr lang="en-US" sz="1400" b="1" dirty="0"/>
              <a:t>NHS Data Analysis</a:t>
            </a:r>
          </a:p>
          <a:p>
            <a:pPr marL="0" lvl="1" indent="0">
              <a:buFont typeface="Arial" panose="020B0604020202020204" pitchFamily="34" charset="0"/>
              <a:buNone/>
            </a:pPr>
            <a:r>
              <a:rPr lang="en-US" sz="1400" dirty="0"/>
              <a:t>The analysis examines NHS medical appointment data and Locations to uncover patterns and inform strategies for improvement.</a:t>
            </a:r>
          </a:p>
          <a:p>
            <a:pPr marL="0" indent="0">
              <a:spcBef>
                <a:spcPts val="2500"/>
              </a:spcBef>
              <a:buFont typeface="Arial" panose="020B0604020202020204" pitchFamily="34" charset="0"/>
              <a:buNone/>
            </a:pPr>
            <a:r>
              <a:rPr lang="en-US" sz="1400" b="1" dirty="0"/>
              <a:t>Key Findings and Trends</a:t>
            </a:r>
          </a:p>
          <a:p>
            <a:pPr marL="0" lvl="1" indent="0">
              <a:buFont typeface="Arial" panose="020B0604020202020204" pitchFamily="34" charset="0"/>
              <a:buNone/>
            </a:pPr>
            <a:r>
              <a:rPr lang="en-US" sz="1400" dirty="0"/>
              <a:t>Insights and trends from NHS data are identified to answer the following questions</a:t>
            </a:r>
          </a:p>
          <a:p>
            <a:pPr marL="285750" lvl="1" indent="-285750"/>
            <a:r>
              <a:rPr lang="en-US" sz="1400" dirty="0"/>
              <a:t>Has there been adequate staff and capacity in the networks?</a:t>
            </a:r>
          </a:p>
          <a:p>
            <a:pPr marL="285750" lvl="1" indent="-285750"/>
            <a:r>
              <a:rPr lang="en-US" sz="1400" dirty="0"/>
              <a:t>What was the actual utilization of resources?</a:t>
            </a:r>
          </a:p>
          <a:p>
            <a:pPr marL="0" indent="0">
              <a:spcBef>
                <a:spcPts val="2500"/>
              </a:spcBef>
              <a:buFont typeface="Arial" panose="020B0604020202020204" pitchFamily="34" charset="0"/>
              <a:buNone/>
            </a:pPr>
            <a:r>
              <a:rPr lang="en-US" sz="1400" b="1" dirty="0"/>
              <a:t>Recommendations</a:t>
            </a:r>
          </a:p>
          <a:p>
            <a:pPr marL="0" lvl="1" indent="0">
              <a:buFont typeface="Arial" panose="020B0604020202020204" pitchFamily="34" charset="0"/>
              <a:buNone/>
            </a:pPr>
            <a:r>
              <a:rPr lang="en-US" sz="1400" dirty="0"/>
              <a:t>The analysis provides recommendations to help improve decisions healthcare delivery.</a:t>
            </a:r>
          </a:p>
        </p:txBody>
      </p:sp>
    </p:spTree>
    <p:extLst>
      <p:ext uri="{BB962C8B-B14F-4D97-AF65-F5344CB8AC3E}">
        <p14:creationId xmlns:p14="http://schemas.microsoft.com/office/powerpoint/2010/main" val="207674654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15A1B-F4C7-B9BB-17A6-CD46998F4B76}"/>
              </a:ext>
            </a:extLst>
          </p:cNvPr>
          <p:cNvSpPr>
            <a:spLocks noGrp="1"/>
          </p:cNvSpPr>
          <p:nvPr>
            <p:ph type="title"/>
          </p:nvPr>
        </p:nvSpPr>
        <p:spPr>
          <a:xfrm>
            <a:off x="838200" y="365126"/>
            <a:ext cx="10515600" cy="588604"/>
          </a:xfrm>
        </p:spPr>
        <p:txBody>
          <a:bodyPr>
            <a:normAutofit fontScale="90000"/>
          </a:bodyPr>
          <a:lstStyle/>
          <a:p>
            <a:r>
              <a:rPr lang="en-US" dirty="0"/>
              <a:t>Overview</a:t>
            </a:r>
          </a:p>
        </p:txBody>
      </p:sp>
      <p:sp>
        <p:nvSpPr>
          <p:cNvPr id="3" name="Content Placeholder 2">
            <a:extLst>
              <a:ext uri="{FF2B5EF4-FFF2-40B4-BE49-F238E27FC236}">
                <a16:creationId xmlns:a16="http://schemas.microsoft.com/office/drawing/2014/main" id="{0D288DC5-26E9-0A8A-A3FF-EF5E75A8C595}"/>
              </a:ext>
            </a:extLst>
          </p:cNvPr>
          <p:cNvSpPr>
            <a:spLocks noGrp="1"/>
          </p:cNvSpPr>
          <p:nvPr>
            <p:ph sz="half" idx="1"/>
          </p:nvPr>
        </p:nvSpPr>
        <p:spPr>
          <a:xfrm>
            <a:off x="1066800" y="2103120"/>
            <a:ext cx="4754880" cy="1151357"/>
          </a:xfrm>
        </p:spPr>
        <p:txBody>
          <a:bodyPr/>
          <a:lstStyle/>
          <a:p>
            <a:r>
              <a:rPr lang="en-US" dirty="0"/>
              <a:t>42 Integrated Care Boards</a:t>
            </a:r>
          </a:p>
        </p:txBody>
      </p:sp>
      <p:sp>
        <p:nvSpPr>
          <p:cNvPr id="4" name="Content Placeholder 3">
            <a:extLst>
              <a:ext uri="{FF2B5EF4-FFF2-40B4-BE49-F238E27FC236}">
                <a16:creationId xmlns:a16="http://schemas.microsoft.com/office/drawing/2014/main" id="{47D07AAE-C5FD-3A46-F081-67DBEDFFA27E}"/>
              </a:ext>
            </a:extLst>
          </p:cNvPr>
          <p:cNvSpPr>
            <a:spLocks noGrp="1"/>
          </p:cNvSpPr>
          <p:nvPr>
            <p:ph sz="half" idx="2"/>
          </p:nvPr>
        </p:nvSpPr>
        <p:spPr>
          <a:xfrm>
            <a:off x="1066800" y="3710072"/>
            <a:ext cx="4754880" cy="1151357"/>
          </a:xfrm>
        </p:spPr>
        <p:txBody>
          <a:bodyPr/>
          <a:lstStyle/>
          <a:p>
            <a:r>
              <a:rPr lang="en-US" dirty="0"/>
              <a:t>&gt; 290 000 000 appointment grouped by National Categories, Service and Context Types</a:t>
            </a:r>
          </a:p>
        </p:txBody>
      </p:sp>
      <p:sp>
        <p:nvSpPr>
          <p:cNvPr id="5" name="TextBox 4">
            <a:extLst>
              <a:ext uri="{FF2B5EF4-FFF2-40B4-BE49-F238E27FC236}">
                <a16:creationId xmlns:a16="http://schemas.microsoft.com/office/drawing/2014/main" id="{C7273263-0751-6564-56AF-890BD459DFBE}"/>
              </a:ext>
            </a:extLst>
          </p:cNvPr>
          <p:cNvSpPr txBox="1"/>
          <p:nvPr/>
        </p:nvSpPr>
        <p:spPr>
          <a:xfrm>
            <a:off x="1066800" y="1278193"/>
            <a:ext cx="10058400" cy="369332"/>
          </a:xfrm>
          <a:prstGeom prst="rect">
            <a:avLst/>
          </a:prstGeom>
          <a:noFill/>
        </p:spPr>
        <p:txBody>
          <a:bodyPr wrap="square" rtlCol="0">
            <a:spAutoFit/>
          </a:bodyPr>
          <a:lstStyle/>
          <a:p>
            <a:r>
              <a:rPr lang="en-US" dirty="0"/>
              <a:t>Provided Datasets cover information about </a:t>
            </a:r>
          </a:p>
        </p:txBody>
      </p:sp>
      <p:sp>
        <p:nvSpPr>
          <p:cNvPr id="7" name="Content Placeholder 3">
            <a:extLst>
              <a:ext uri="{FF2B5EF4-FFF2-40B4-BE49-F238E27FC236}">
                <a16:creationId xmlns:a16="http://schemas.microsoft.com/office/drawing/2014/main" id="{D8ACBC45-C326-FE0A-558D-18F6E930C52D}"/>
              </a:ext>
            </a:extLst>
          </p:cNvPr>
          <p:cNvSpPr txBox="1">
            <a:spLocks/>
          </p:cNvSpPr>
          <p:nvPr/>
        </p:nvSpPr>
        <p:spPr>
          <a:xfrm>
            <a:off x="1066800" y="2807781"/>
            <a:ext cx="4754880" cy="674493"/>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dirty="0"/>
              <a:t>106 Locations</a:t>
            </a:r>
          </a:p>
        </p:txBody>
      </p:sp>
    </p:spTree>
    <p:extLst>
      <p:ext uri="{BB962C8B-B14F-4D97-AF65-F5344CB8AC3E}">
        <p14:creationId xmlns:p14="http://schemas.microsoft.com/office/powerpoint/2010/main" val="28618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42E618-A391-742A-50BD-C9223CD98E4E}"/>
              </a:ext>
            </a:extLst>
          </p:cNvPr>
          <p:cNvSpPr txBox="1"/>
          <p:nvPr/>
        </p:nvSpPr>
        <p:spPr>
          <a:xfrm>
            <a:off x="2256504" y="3013501"/>
            <a:ext cx="7678992" cy="830997"/>
          </a:xfrm>
          <a:prstGeom prst="rect">
            <a:avLst/>
          </a:prstGeom>
          <a:noFill/>
        </p:spPr>
        <p:txBody>
          <a:bodyPr wrap="square" rtlCol="0">
            <a:spAutoFit/>
          </a:bodyPr>
          <a:lstStyle/>
          <a:p>
            <a:r>
              <a:rPr lang="en-US" sz="2400" b="1" dirty="0">
                <a:solidFill>
                  <a:srgbClr val="000000"/>
                </a:solidFill>
                <a:effectLst/>
                <a:latin typeface="Century Gothic" panose="020B0502020202020204" pitchFamily="34" charset="0"/>
              </a:rPr>
              <a:t>Has there been adequate staff and capacity in the networks?</a:t>
            </a:r>
            <a:endParaRPr lang="en-US" sz="2400" dirty="0"/>
          </a:p>
        </p:txBody>
      </p:sp>
      <p:sp>
        <p:nvSpPr>
          <p:cNvPr id="5" name="TextBox 4">
            <a:extLst>
              <a:ext uri="{FF2B5EF4-FFF2-40B4-BE49-F238E27FC236}">
                <a16:creationId xmlns:a16="http://schemas.microsoft.com/office/drawing/2014/main" id="{EB46FE20-B4A3-C23E-A137-E657B5F6D277}"/>
              </a:ext>
            </a:extLst>
          </p:cNvPr>
          <p:cNvSpPr txBox="1"/>
          <p:nvPr/>
        </p:nvSpPr>
        <p:spPr>
          <a:xfrm>
            <a:off x="2769009" y="4306530"/>
            <a:ext cx="6653981" cy="338554"/>
          </a:xfrm>
          <a:prstGeom prst="rect">
            <a:avLst/>
          </a:prstGeom>
          <a:noFill/>
        </p:spPr>
        <p:txBody>
          <a:bodyPr wrap="square" rtlCol="0">
            <a:spAutoFit/>
          </a:bodyPr>
          <a:lstStyle/>
          <a:p>
            <a:r>
              <a:rPr lang="en-US" sz="1600" dirty="0"/>
              <a:t>Let’s start with exploring the monthly distribution of appointments </a:t>
            </a:r>
          </a:p>
        </p:txBody>
      </p:sp>
    </p:spTree>
    <p:extLst>
      <p:ext uri="{BB962C8B-B14F-4D97-AF65-F5344CB8AC3E}">
        <p14:creationId xmlns:p14="http://schemas.microsoft.com/office/powerpoint/2010/main" val="2812513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F2DB7-1963-6DEE-C704-EEAF7175DA69}"/>
              </a:ext>
            </a:extLst>
          </p:cNvPr>
          <p:cNvSpPr>
            <a:spLocks noGrp="1"/>
          </p:cNvSpPr>
          <p:nvPr>
            <p:ph type="title"/>
          </p:nvPr>
        </p:nvSpPr>
        <p:spPr/>
        <p:txBody>
          <a:bodyPr>
            <a:normAutofit/>
          </a:bodyPr>
          <a:lstStyle/>
          <a:p>
            <a:r>
              <a:rPr lang="en-US" sz="3200" dirty="0"/>
              <a:t>Monthly appointments per Service Setting</a:t>
            </a:r>
          </a:p>
        </p:txBody>
      </p:sp>
      <p:pic>
        <p:nvPicPr>
          <p:cNvPr id="13" name="Content Placeholder 12" descr="A graph with lines and text&#10;&#10;AI-generated content may be incorrect.">
            <a:extLst>
              <a:ext uri="{FF2B5EF4-FFF2-40B4-BE49-F238E27FC236}">
                <a16:creationId xmlns:a16="http://schemas.microsoft.com/office/drawing/2014/main" id="{57E76834-CD03-5DE0-DAEE-D1D4DABE49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704" y="1511710"/>
            <a:ext cx="11636592" cy="3834580"/>
          </a:xfrm>
        </p:spPr>
      </p:pic>
      <p:sp>
        <p:nvSpPr>
          <p:cNvPr id="15" name="TextBox 14">
            <a:extLst>
              <a:ext uri="{FF2B5EF4-FFF2-40B4-BE49-F238E27FC236}">
                <a16:creationId xmlns:a16="http://schemas.microsoft.com/office/drawing/2014/main" id="{40094D01-057C-2718-FA27-A042A2064116}"/>
              </a:ext>
            </a:extLst>
          </p:cNvPr>
          <p:cNvSpPr txBox="1"/>
          <p:nvPr/>
        </p:nvSpPr>
        <p:spPr>
          <a:xfrm>
            <a:off x="412955" y="5791200"/>
            <a:ext cx="5270090" cy="369332"/>
          </a:xfrm>
          <a:prstGeom prst="rect">
            <a:avLst/>
          </a:prstGeom>
          <a:noFill/>
        </p:spPr>
        <p:txBody>
          <a:bodyPr wrap="square" rtlCol="0">
            <a:spAutoFit/>
          </a:bodyPr>
          <a:lstStyle/>
          <a:p>
            <a:r>
              <a:rPr lang="en-US" dirty="0"/>
              <a:t>         </a:t>
            </a:r>
            <a:r>
              <a:rPr lang="en-US" sz="1600" dirty="0"/>
              <a:t> General Practice is</a:t>
            </a:r>
            <a:r>
              <a:rPr lang="ru-RU" sz="1600" dirty="0"/>
              <a:t> </a:t>
            </a:r>
            <a:r>
              <a:rPr lang="en-US" sz="1600" dirty="0"/>
              <a:t>an undisputed leader</a:t>
            </a:r>
          </a:p>
        </p:txBody>
      </p:sp>
      <p:cxnSp>
        <p:nvCxnSpPr>
          <p:cNvPr id="17" name="Straight Connector 16">
            <a:extLst>
              <a:ext uri="{FF2B5EF4-FFF2-40B4-BE49-F238E27FC236}">
                <a16:creationId xmlns:a16="http://schemas.microsoft.com/office/drawing/2014/main" id="{44255D0E-0480-0838-EEA1-D1DCF26D632A}"/>
              </a:ext>
            </a:extLst>
          </p:cNvPr>
          <p:cNvCxnSpPr/>
          <p:nvPr/>
        </p:nvCxnSpPr>
        <p:spPr>
          <a:xfrm>
            <a:off x="609600" y="5997677"/>
            <a:ext cx="457200" cy="0"/>
          </a:xfrm>
          <a:prstGeom prst="line">
            <a:avLst/>
          </a:prstGeom>
          <a:ln w="28575">
            <a:solidFill>
              <a:srgbClr val="FF9933"/>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06682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0F9E-F178-D92D-4756-0CBEB94D0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B3831-C6BE-8DCD-5B89-21EB4DCB53C1}"/>
              </a:ext>
            </a:extLst>
          </p:cNvPr>
          <p:cNvSpPr>
            <a:spLocks noGrp="1"/>
          </p:cNvSpPr>
          <p:nvPr>
            <p:ph type="title"/>
          </p:nvPr>
        </p:nvSpPr>
        <p:spPr>
          <a:xfrm>
            <a:off x="1066800" y="642594"/>
            <a:ext cx="10058400" cy="869116"/>
          </a:xfrm>
        </p:spPr>
        <p:txBody>
          <a:bodyPr>
            <a:normAutofit/>
          </a:bodyPr>
          <a:lstStyle/>
          <a:p>
            <a:r>
              <a:rPr lang="en-US" sz="3200" dirty="0"/>
              <a:t>Monthly appointments per Context Type</a:t>
            </a:r>
          </a:p>
        </p:txBody>
      </p:sp>
      <p:pic>
        <p:nvPicPr>
          <p:cNvPr id="6" name="Content Placeholder 5" descr="A graph with red and blue lines&#10;&#10;AI-generated content may be incorrect.">
            <a:extLst>
              <a:ext uri="{FF2B5EF4-FFF2-40B4-BE49-F238E27FC236}">
                <a16:creationId xmlns:a16="http://schemas.microsoft.com/office/drawing/2014/main" id="{AE65F20A-7AE2-2955-DBDD-72C0BD58D9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0206" y="1819855"/>
            <a:ext cx="10591588" cy="3218290"/>
          </a:xfrm>
        </p:spPr>
      </p:pic>
    </p:spTree>
    <p:extLst>
      <p:ext uri="{BB962C8B-B14F-4D97-AF65-F5344CB8AC3E}">
        <p14:creationId xmlns:p14="http://schemas.microsoft.com/office/powerpoint/2010/main" val="4021200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ED3CA-8F2F-3DA1-A3F4-4E1601655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CA091-0C92-6967-3C9C-269D00B40954}"/>
              </a:ext>
            </a:extLst>
          </p:cNvPr>
          <p:cNvSpPr>
            <a:spLocks noGrp="1"/>
          </p:cNvSpPr>
          <p:nvPr>
            <p:ph type="title"/>
          </p:nvPr>
        </p:nvSpPr>
        <p:spPr>
          <a:xfrm>
            <a:off x="1066800" y="382039"/>
            <a:ext cx="10058400" cy="606104"/>
          </a:xfrm>
        </p:spPr>
        <p:txBody>
          <a:bodyPr>
            <a:normAutofit/>
          </a:bodyPr>
          <a:lstStyle/>
          <a:p>
            <a:r>
              <a:rPr lang="en-US" sz="3200" dirty="0"/>
              <a:t>Monthly appointments per National Category</a:t>
            </a:r>
          </a:p>
        </p:txBody>
      </p:sp>
      <p:pic>
        <p:nvPicPr>
          <p:cNvPr id="7" name="Content Placeholder 6" descr="A graph of different colored lines&#10;&#10;AI-generated content may be incorrect.">
            <a:extLst>
              <a:ext uri="{FF2B5EF4-FFF2-40B4-BE49-F238E27FC236}">
                <a16:creationId xmlns:a16="http://schemas.microsoft.com/office/drawing/2014/main" id="{DEF49800-A596-B1F3-7224-39251EA15D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682" y="1248698"/>
            <a:ext cx="8895227" cy="4630992"/>
          </a:xfrm>
        </p:spPr>
      </p:pic>
      <p:sp>
        <p:nvSpPr>
          <p:cNvPr id="9" name="TextBox 8">
            <a:extLst>
              <a:ext uri="{FF2B5EF4-FFF2-40B4-BE49-F238E27FC236}">
                <a16:creationId xmlns:a16="http://schemas.microsoft.com/office/drawing/2014/main" id="{81410CD0-C335-5D3E-C14A-F8A5FE6C1B83}"/>
              </a:ext>
            </a:extLst>
          </p:cNvPr>
          <p:cNvSpPr txBox="1"/>
          <p:nvPr/>
        </p:nvSpPr>
        <p:spPr>
          <a:xfrm>
            <a:off x="9572909" y="1248698"/>
            <a:ext cx="2314291" cy="2236574"/>
          </a:xfrm>
          <a:prstGeom prst="rect">
            <a:avLst/>
          </a:prstGeom>
          <a:noFill/>
        </p:spPr>
        <p:txBody>
          <a:bodyPr wrap="square" rtlCol="0">
            <a:spAutoFit/>
          </a:bodyPr>
          <a:lstStyle/>
          <a:p>
            <a:r>
              <a:rPr lang="en-US" sz="1600" b="1" dirty="0"/>
              <a:t>TOP 3 Categories</a:t>
            </a:r>
          </a:p>
          <a:p>
            <a:pPr marL="342900" indent="-342900">
              <a:lnSpc>
                <a:spcPct val="150000"/>
              </a:lnSpc>
              <a:buAutoNum type="arabicPeriod"/>
            </a:pPr>
            <a:r>
              <a:rPr lang="en-US" sz="1400" dirty="0"/>
              <a:t>General Consultation Routine</a:t>
            </a:r>
          </a:p>
          <a:p>
            <a:pPr marL="342900" indent="-342900">
              <a:lnSpc>
                <a:spcPct val="150000"/>
              </a:lnSpc>
              <a:buAutoNum type="arabicPeriod"/>
            </a:pPr>
            <a:r>
              <a:rPr lang="en-US" sz="1400" dirty="0"/>
              <a:t>General Consultation Acute</a:t>
            </a:r>
          </a:p>
          <a:p>
            <a:pPr marL="342900" indent="-342900">
              <a:lnSpc>
                <a:spcPct val="150000"/>
              </a:lnSpc>
              <a:buAutoNum type="arabicPeriod"/>
            </a:pPr>
            <a:endParaRPr lang="en-US" sz="1400" dirty="0"/>
          </a:p>
          <a:p>
            <a:pPr marL="342900" indent="-342900">
              <a:lnSpc>
                <a:spcPct val="150000"/>
              </a:lnSpc>
              <a:buAutoNum type="arabicPeriod"/>
            </a:pPr>
            <a:r>
              <a:rPr lang="en-US" sz="1400" dirty="0"/>
              <a:t>Clinical Triage </a:t>
            </a:r>
          </a:p>
        </p:txBody>
      </p:sp>
      <p:cxnSp>
        <p:nvCxnSpPr>
          <p:cNvPr id="11" name="Straight Connector 10">
            <a:extLst>
              <a:ext uri="{FF2B5EF4-FFF2-40B4-BE49-F238E27FC236}">
                <a16:creationId xmlns:a16="http://schemas.microsoft.com/office/drawing/2014/main" id="{AA95F08E-9C38-0E3C-D0A5-5167D98C1547}"/>
              </a:ext>
            </a:extLst>
          </p:cNvPr>
          <p:cNvCxnSpPr/>
          <p:nvPr/>
        </p:nvCxnSpPr>
        <p:spPr>
          <a:xfrm>
            <a:off x="9871587" y="2202426"/>
            <a:ext cx="18877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ABBA18E-47B7-1844-9ACB-76A51B23E77D}"/>
              </a:ext>
            </a:extLst>
          </p:cNvPr>
          <p:cNvCxnSpPr/>
          <p:nvPr/>
        </p:nvCxnSpPr>
        <p:spPr>
          <a:xfrm>
            <a:off x="9871587" y="2944762"/>
            <a:ext cx="188779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43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service setting&#10;&#10;AI-generated content may be incorrect.">
            <a:extLst>
              <a:ext uri="{FF2B5EF4-FFF2-40B4-BE49-F238E27FC236}">
                <a16:creationId xmlns:a16="http://schemas.microsoft.com/office/drawing/2014/main" id="{62638CCE-83B3-B97D-4EB4-27FA692314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748" y="255403"/>
            <a:ext cx="10304207" cy="4579648"/>
          </a:xfrm>
          <a:prstGeom prst="rect">
            <a:avLst/>
          </a:prstGeom>
        </p:spPr>
      </p:pic>
      <p:sp>
        <p:nvSpPr>
          <p:cNvPr id="5" name="TextBox 4">
            <a:extLst>
              <a:ext uri="{FF2B5EF4-FFF2-40B4-BE49-F238E27FC236}">
                <a16:creationId xmlns:a16="http://schemas.microsoft.com/office/drawing/2014/main" id="{E0A66CE2-BB0F-AAF8-6D1A-413B2F24ED51}"/>
              </a:ext>
            </a:extLst>
          </p:cNvPr>
          <p:cNvSpPr txBox="1"/>
          <p:nvPr/>
        </p:nvSpPr>
        <p:spPr>
          <a:xfrm>
            <a:off x="776749" y="5014452"/>
            <a:ext cx="10304206" cy="276999"/>
          </a:xfrm>
          <a:prstGeom prst="rect">
            <a:avLst/>
          </a:prstGeom>
          <a:noFill/>
        </p:spPr>
        <p:txBody>
          <a:bodyPr wrap="square" rtlCol="0">
            <a:spAutoFit/>
          </a:bodyPr>
          <a:lstStyle/>
          <a:p>
            <a:r>
              <a:rPr lang="en-US" sz="1200" dirty="0"/>
              <a:t>As mentioned earlier, we can see the increase in number of GP appointments starting from September and lasting till mid- October</a:t>
            </a:r>
          </a:p>
        </p:txBody>
      </p:sp>
    </p:spTree>
    <p:extLst>
      <p:ext uri="{BB962C8B-B14F-4D97-AF65-F5344CB8AC3E}">
        <p14:creationId xmlns:p14="http://schemas.microsoft.com/office/powerpoint/2010/main" val="4212200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1780-BF6E-9512-F6D7-A668C0173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C58E3-CFA9-2C64-C3B3-16DFFFAE36DB}"/>
              </a:ext>
            </a:extLst>
          </p:cNvPr>
          <p:cNvSpPr>
            <a:spLocks noGrp="1"/>
          </p:cNvSpPr>
          <p:nvPr>
            <p:ph type="title"/>
          </p:nvPr>
        </p:nvSpPr>
        <p:spPr>
          <a:xfrm>
            <a:off x="1066800" y="642594"/>
            <a:ext cx="10058400" cy="861741"/>
          </a:xfrm>
        </p:spPr>
        <p:txBody>
          <a:bodyPr>
            <a:normAutofit/>
          </a:bodyPr>
          <a:lstStyle/>
          <a:p>
            <a:r>
              <a:rPr lang="en-US" sz="2800" dirty="0"/>
              <a:t>Key Highlights on National Category</a:t>
            </a:r>
          </a:p>
        </p:txBody>
      </p:sp>
      <p:sp>
        <p:nvSpPr>
          <p:cNvPr id="3" name="TextBox 2">
            <a:extLst>
              <a:ext uri="{FF2B5EF4-FFF2-40B4-BE49-F238E27FC236}">
                <a16:creationId xmlns:a16="http://schemas.microsoft.com/office/drawing/2014/main" id="{565B6B7E-32F7-C1B5-5DB9-D1E4E9D0B4F0}"/>
              </a:ext>
            </a:extLst>
          </p:cNvPr>
          <p:cNvSpPr txBox="1"/>
          <p:nvPr/>
        </p:nvSpPr>
        <p:spPr>
          <a:xfrm>
            <a:off x="993058" y="1799303"/>
            <a:ext cx="9536585" cy="1200329"/>
          </a:xfrm>
          <a:prstGeom prst="rect">
            <a:avLst/>
          </a:prstGeom>
        </p:spPr>
        <p:style>
          <a:lnRef idx="0">
            <a:scrgbClr r="0" g="0" b="0"/>
          </a:lnRef>
          <a:fillRef idx="1002">
            <a:schemeClr val="lt2"/>
          </a:fillRef>
          <a:effectRef idx="0">
            <a:scrgbClr r="0" g="0" b="0"/>
          </a:effectRef>
          <a:fontRef idx="major"/>
        </p:style>
        <p:txBody>
          <a:bodyPr wrap="none" rtlCol="0">
            <a:spAutoFit/>
          </a:bodyPr>
          <a:lstStyle/>
          <a:p>
            <a:pPr marL="285750" lvl="0" indent="-285750">
              <a:buFont typeface="Courier New" panose="02070309020205020404" pitchFamily="49" charset="0"/>
              <a:buChar char="o"/>
            </a:pPr>
            <a:r>
              <a:rPr lang="en-US" dirty="0"/>
              <a:t>Number of appointments start rising in the beginning of Autumn</a:t>
            </a:r>
          </a:p>
          <a:p>
            <a:pPr marL="285750" lvl="0" indent="-285750">
              <a:buFont typeface="Courier New" panose="02070309020205020404" pitchFamily="49" charset="0"/>
              <a:buChar char="o"/>
            </a:pPr>
            <a:r>
              <a:rPr lang="en-US" dirty="0"/>
              <a:t>General consultation services and General Practices are always in high demand </a:t>
            </a:r>
          </a:p>
          <a:p>
            <a:pPr marL="285750" lvl="0" indent="-285750">
              <a:buFont typeface="Courier New" panose="02070309020205020404" pitchFamily="49" charset="0"/>
              <a:buChar char="o"/>
            </a:pPr>
            <a:r>
              <a:rPr lang="en-US" dirty="0"/>
              <a:t>Winter typically has even pattern</a:t>
            </a:r>
          </a:p>
          <a:p>
            <a:pPr marL="285750" lvl="0" indent="-285750">
              <a:buFont typeface="Courier New" panose="02070309020205020404" pitchFamily="49" charset="0"/>
              <a:buChar char="o"/>
            </a:pPr>
            <a:r>
              <a:rPr lang="en-US" dirty="0"/>
              <a:t>The next increase in appointments begins in March and May</a:t>
            </a:r>
          </a:p>
        </p:txBody>
      </p:sp>
    </p:spTree>
    <p:extLst>
      <p:ext uri="{BB962C8B-B14F-4D97-AF65-F5344CB8AC3E}">
        <p14:creationId xmlns:p14="http://schemas.microsoft.com/office/powerpoint/2010/main" val="3598446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967F423-D21C-4F37-A0B7-750026A17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en-US"/>
          </a:p>
        </p:txBody>
      </p:sp>
      <p:pic>
        <p:nvPicPr>
          <p:cNvPr id="5" name="Content Placeholder 4" descr="A  senior staff nurse instructs a young female nurse about the medical records of a patient on a busy hospital ward. In the background a male staff nurse explains the various equipment on the dressings trolley .">
            <a:extLst>
              <a:ext uri="{FF2B5EF4-FFF2-40B4-BE49-F238E27FC236}">
                <a16:creationId xmlns:a16="http://schemas.microsoft.com/office/drawing/2014/main" id="{C645D603-B6B9-4AEF-9D5A-0203F2846756}"/>
              </a:ext>
            </a:extLst>
          </p:cNvPr>
          <p:cNvPicPr>
            <a:picLocks noGrp="1" noChangeAspect="1"/>
          </p:cNvPicPr>
          <p:nvPr>
            <p:ph sz="half" idx="1"/>
          </p:nvPr>
        </p:nvPicPr>
        <p:blipFill>
          <a:blip r:embed="rId3"/>
          <a:srcRect l="26840" r="30909" b="2"/>
          <a:stretch>
            <a:fillRect/>
          </a:stretch>
        </p:blipFill>
        <p:spPr>
          <a:xfrm>
            <a:off x="190846" y="237744"/>
            <a:ext cx="4040033" cy="6382512"/>
          </a:xfrm>
          <a:prstGeom prst="rect">
            <a:avLst/>
          </a:prstGeom>
        </p:spPr>
      </p:pic>
      <p:sp>
        <p:nvSpPr>
          <p:cNvPr id="21" name="Rectangle 20">
            <a:extLst>
              <a:ext uri="{FF2B5EF4-FFF2-40B4-BE49-F238E27FC236}">
                <a16:creationId xmlns:a16="http://schemas.microsoft.com/office/drawing/2014/main" id="{BE7270DF-375F-4ECC-989A-D033E481AE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9465" y="237744"/>
            <a:ext cx="7652977"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8E8B3D7-0E83-F4CE-6DA4-AF92A855E2CB}"/>
              </a:ext>
            </a:extLst>
          </p:cNvPr>
          <p:cNvSpPr>
            <a:spLocks noGrp="1"/>
          </p:cNvSpPr>
          <p:nvPr>
            <p:ph type="title"/>
          </p:nvPr>
        </p:nvSpPr>
        <p:spPr>
          <a:xfrm>
            <a:off x="4965192" y="642593"/>
            <a:ext cx="6280826" cy="1746504"/>
          </a:xfrm>
        </p:spPr>
        <p:txBody>
          <a:bodyPr vert="horz" lIns="91440" tIns="45720" rIns="91440" bIns="45720" rtlCol="0" anchor="ctr">
            <a:normAutofit/>
          </a:bodyPr>
          <a:lstStyle/>
          <a:p>
            <a:r>
              <a:rPr lang="en-US"/>
              <a:t>NHS Appointment Capacity Projection</a:t>
            </a:r>
          </a:p>
        </p:txBody>
      </p:sp>
      <p:sp>
        <p:nvSpPr>
          <p:cNvPr id="4" name="Content Placeholder 3">
            <a:extLst>
              <a:ext uri="{FF2B5EF4-FFF2-40B4-BE49-F238E27FC236}">
                <a16:creationId xmlns:a16="http://schemas.microsoft.com/office/drawing/2014/main" id="{2502D657-44C2-A001-8F76-BC6B56BFA3F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81502" y="2793946"/>
            <a:ext cx="6280826" cy="3648456"/>
          </a:xfrm>
        </p:spPr>
        <p:txBody>
          <a:bodyPr>
            <a:normAutofit/>
          </a:bodyPr>
          <a:lstStyle/>
          <a:p>
            <a:pPr marL="0" lvl="1" indent="0">
              <a:buFont typeface="Arial" panose="020B0604020202020204" pitchFamily="34" charset="0"/>
              <a:buNone/>
            </a:pPr>
            <a:r>
              <a:rPr lang="en-US" sz="1400" dirty="0"/>
              <a:t>The NHS aims for </a:t>
            </a:r>
            <a:r>
              <a:rPr lang="en-US" sz="1400" b="1" dirty="0"/>
              <a:t>1,200,000</a:t>
            </a:r>
            <a:r>
              <a:rPr lang="en-US" sz="1400" dirty="0"/>
              <a:t> appointments daily to address rising healthcare demands and improve service capacity.</a:t>
            </a:r>
          </a:p>
        </p:txBody>
      </p:sp>
    </p:spTree>
    <p:extLst>
      <p:ext uri="{BB962C8B-B14F-4D97-AF65-F5344CB8AC3E}">
        <p14:creationId xmlns:p14="http://schemas.microsoft.com/office/powerpoint/2010/main" val="33745479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C3E7-576E-7089-C74A-82E8A28C2E9F}"/>
              </a:ext>
            </a:extLst>
          </p:cNvPr>
          <p:cNvSpPr>
            <a:spLocks noGrp="1"/>
          </p:cNvSpPr>
          <p:nvPr>
            <p:ph type="title"/>
          </p:nvPr>
        </p:nvSpPr>
        <p:spPr>
          <a:xfrm>
            <a:off x="1066800" y="642594"/>
            <a:ext cx="10058400" cy="497948"/>
          </a:xfrm>
        </p:spPr>
        <p:txBody>
          <a:bodyPr>
            <a:normAutofit/>
          </a:bodyPr>
          <a:lstStyle/>
          <a:p>
            <a:pPr algn="ctr"/>
            <a:r>
              <a:rPr lang="en-US" sz="2000" dirty="0"/>
              <a:t>Capacity Utilization (monthly vs. daily)</a:t>
            </a:r>
          </a:p>
        </p:txBody>
      </p:sp>
      <p:pic>
        <p:nvPicPr>
          <p:cNvPr id="15" name="Content Placeholder 14" descr="A graph of a graph&#10;&#10;AI-generated content may be incorrect.">
            <a:extLst>
              <a:ext uri="{FF2B5EF4-FFF2-40B4-BE49-F238E27FC236}">
                <a16:creationId xmlns:a16="http://schemas.microsoft.com/office/drawing/2014/main" id="{5B32D29F-FEA1-3119-1D5F-592DF4D2297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60052" y="1140542"/>
            <a:ext cx="5847946" cy="2517058"/>
          </a:xfrm>
        </p:spPr>
      </p:pic>
      <p:pic>
        <p:nvPicPr>
          <p:cNvPr id="22" name="Content Placeholder 21" descr="A blue lines on a white background&#10;&#10;AI-generated content may be incorrect.">
            <a:extLst>
              <a:ext uri="{FF2B5EF4-FFF2-40B4-BE49-F238E27FC236}">
                <a16:creationId xmlns:a16="http://schemas.microsoft.com/office/drawing/2014/main" id="{3495BC2C-B825-92EA-163C-DE2E3A59DF64}"/>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360052" y="3825826"/>
            <a:ext cx="5847947" cy="2517058"/>
          </a:xfrm>
        </p:spPr>
      </p:pic>
      <p:sp>
        <p:nvSpPr>
          <p:cNvPr id="27" name="TextBox 26">
            <a:extLst>
              <a:ext uri="{FF2B5EF4-FFF2-40B4-BE49-F238E27FC236}">
                <a16:creationId xmlns:a16="http://schemas.microsoft.com/office/drawing/2014/main" id="{C2E81058-B70E-9159-446B-83533823CD98}"/>
              </a:ext>
            </a:extLst>
          </p:cNvPr>
          <p:cNvSpPr txBox="1"/>
          <p:nvPr/>
        </p:nvSpPr>
        <p:spPr>
          <a:xfrm>
            <a:off x="6558115" y="1140542"/>
            <a:ext cx="4729316" cy="584775"/>
          </a:xfrm>
          <a:prstGeom prst="rect">
            <a:avLst/>
          </a:prstGeom>
          <a:noFill/>
        </p:spPr>
        <p:txBody>
          <a:bodyPr wrap="square" rtlCol="0">
            <a:spAutoFit/>
          </a:bodyPr>
          <a:lstStyle/>
          <a:p>
            <a:r>
              <a:rPr lang="en-US" sz="1400" dirty="0"/>
              <a:t>Monthly capacity looks good at first glance. The workload far below the expected level</a:t>
            </a:r>
            <a:r>
              <a:rPr lang="en-US" dirty="0"/>
              <a:t>.</a:t>
            </a:r>
          </a:p>
        </p:txBody>
      </p:sp>
      <p:sp>
        <p:nvSpPr>
          <p:cNvPr id="28" name="TextBox 27">
            <a:extLst>
              <a:ext uri="{FF2B5EF4-FFF2-40B4-BE49-F238E27FC236}">
                <a16:creationId xmlns:a16="http://schemas.microsoft.com/office/drawing/2014/main" id="{75D1BE3D-7DE7-910F-AC92-FF97D9773AEB}"/>
              </a:ext>
            </a:extLst>
          </p:cNvPr>
          <p:cNvSpPr txBox="1"/>
          <p:nvPr/>
        </p:nvSpPr>
        <p:spPr>
          <a:xfrm>
            <a:off x="6558116" y="3825826"/>
            <a:ext cx="4729315" cy="984885"/>
          </a:xfrm>
          <a:prstGeom prst="rect">
            <a:avLst/>
          </a:prstGeom>
          <a:noFill/>
        </p:spPr>
        <p:txBody>
          <a:bodyPr wrap="square" rtlCol="0">
            <a:spAutoFit/>
          </a:bodyPr>
          <a:lstStyle/>
          <a:p>
            <a:r>
              <a:rPr lang="en-US" sz="1400" dirty="0"/>
              <a:t>Daily level shows that there are many cases of overloaded days.  </a:t>
            </a:r>
          </a:p>
          <a:p>
            <a:pPr lvl="1"/>
            <a:r>
              <a:rPr lang="en-US" sz="1400" dirty="0"/>
              <a:t>Precisely, </a:t>
            </a:r>
            <a:r>
              <a:rPr lang="en-US" sz="1400" u="sng" spc="300" dirty="0"/>
              <a:t>175</a:t>
            </a:r>
            <a:r>
              <a:rPr lang="en-US" sz="1400" u="sng" dirty="0"/>
              <a:t> overloaded days, about 48% of the year</a:t>
            </a:r>
            <a:r>
              <a:rPr lang="en-US" sz="1600" u="sng" dirty="0"/>
              <a:t>.</a:t>
            </a:r>
          </a:p>
        </p:txBody>
      </p:sp>
    </p:spTree>
    <p:extLst>
      <p:ext uri="{BB962C8B-B14F-4D97-AF65-F5344CB8AC3E}">
        <p14:creationId xmlns:p14="http://schemas.microsoft.com/office/powerpoint/2010/main" val="169765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C220-87E4-BE80-402B-31488165670B}"/>
              </a:ext>
            </a:extLst>
          </p:cNvPr>
          <p:cNvSpPr>
            <a:spLocks noGrp="1"/>
          </p:cNvSpPr>
          <p:nvPr>
            <p:ph type="title"/>
          </p:nvPr>
        </p:nvSpPr>
        <p:spPr>
          <a:xfrm>
            <a:off x="1066800" y="642594"/>
            <a:ext cx="10058400" cy="861741"/>
          </a:xfrm>
        </p:spPr>
        <p:txBody>
          <a:bodyPr>
            <a:normAutofit/>
          </a:bodyPr>
          <a:lstStyle/>
          <a:p>
            <a:r>
              <a:rPr lang="en-US" sz="2800" dirty="0"/>
              <a:t>Key Highlights on capacity</a:t>
            </a:r>
          </a:p>
        </p:txBody>
      </p:sp>
      <p:sp>
        <p:nvSpPr>
          <p:cNvPr id="3" name="TextBox 2">
            <a:extLst>
              <a:ext uri="{FF2B5EF4-FFF2-40B4-BE49-F238E27FC236}">
                <a16:creationId xmlns:a16="http://schemas.microsoft.com/office/drawing/2014/main" id="{43C04646-7623-E91A-F671-348153FAE31B}"/>
              </a:ext>
            </a:extLst>
          </p:cNvPr>
          <p:cNvSpPr txBox="1"/>
          <p:nvPr/>
        </p:nvSpPr>
        <p:spPr>
          <a:xfrm>
            <a:off x="993058" y="1799303"/>
            <a:ext cx="10331674" cy="2031325"/>
          </a:xfrm>
          <a:prstGeom prst="rect">
            <a:avLst/>
          </a:prstGeom>
        </p:spPr>
        <p:style>
          <a:lnRef idx="0">
            <a:scrgbClr r="0" g="0" b="0"/>
          </a:lnRef>
          <a:fillRef idx="1002">
            <a:schemeClr val="lt2"/>
          </a:fillRef>
          <a:effectRef idx="0">
            <a:scrgbClr r="0" g="0" b="0"/>
          </a:effectRef>
          <a:fontRef idx="major"/>
        </p:style>
        <p:txBody>
          <a:bodyPr wrap="none" rtlCol="0">
            <a:spAutoFit/>
          </a:bodyPr>
          <a:lstStyle/>
          <a:p>
            <a:pPr marL="285750" indent="-285750">
              <a:lnSpc>
                <a:spcPct val="200000"/>
              </a:lnSpc>
              <a:buFont typeface="Century Gothic" panose="020B0502020202020204" pitchFamily="34" charset="0"/>
              <a:buChar char="•"/>
            </a:pPr>
            <a:r>
              <a:rPr lang="en-US" dirty="0"/>
              <a:t>The overall (monthly capacity) looks like there’s space for more patients to be admitted.</a:t>
            </a:r>
          </a:p>
          <a:p>
            <a:pPr marL="285750" indent="-285750">
              <a:lnSpc>
                <a:spcPct val="200000"/>
              </a:lnSpc>
              <a:buFont typeface="Century Gothic" panose="020B0502020202020204" pitchFamily="34" charset="0"/>
              <a:buChar char="•"/>
            </a:pPr>
            <a:r>
              <a:rPr lang="en-US" dirty="0"/>
              <a:t>The daily capacity shows that 45% of the year doctors are overloaded with patients.</a:t>
            </a:r>
          </a:p>
          <a:p>
            <a:pPr marL="285750" indent="-285750">
              <a:lnSpc>
                <a:spcPct val="200000"/>
              </a:lnSpc>
              <a:buFont typeface="Century Gothic" panose="020B0502020202020204" pitchFamily="34" charset="0"/>
              <a:buChar char="•"/>
            </a:pPr>
            <a:r>
              <a:rPr lang="en-US" dirty="0"/>
              <a:t>Again, autumn and spring are the busiest periods, as we discovered earlier.</a:t>
            </a:r>
          </a:p>
          <a:p>
            <a:pPr marL="285750" indent="-285750">
              <a:buFont typeface="Century Gothic" panose="020B0502020202020204" pitchFamily="34" charset="0"/>
              <a:buChar char="•"/>
            </a:pPr>
            <a:endParaRPr lang="en-US" dirty="0"/>
          </a:p>
        </p:txBody>
      </p:sp>
    </p:spTree>
    <p:extLst>
      <p:ext uri="{BB962C8B-B14F-4D97-AF65-F5344CB8AC3E}">
        <p14:creationId xmlns:p14="http://schemas.microsoft.com/office/powerpoint/2010/main" val="480460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7B3B1C-788D-724F-40B9-EF7E7BC69F2C}"/>
              </a:ext>
            </a:extLst>
          </p:cNvPr>
          <p:cNvSpPr txBox="1"/>
          <p:nvPr/>
        </p:nvSpPr>
        <p:spPr>
          <a:xfrm>
            <a:off x="462116" y="5240594"/>
            <a:ext cx="10038736" cy="307777"/>
          </a:xfrm>
          <a:prstGeom prst="rect">
            <a:avLst/>
          </a:prstGeom>
          <a:noFill/>
        </p:spPr>
        <p:txBody>
          <a:bodyPr wrap="square" rtlCol="0">
            <a:spAutoFit/>
          </a:bodyPr>
          <a:lstStyle/>
          <a:p>
            <a:r>
              <a:rPr lang="en-US" sz="1400" dirty="0"/>
              <a:t>Most of the appointments are attended. Missed and unknown appointments have a very small share.</a:t>
            </a:r>
          </a:p>
        </p:txBody>
      </p:sp>
      <p:pic>
        <p:nvPicPr>
          <p:cNvPr id="6" name="Picture 5" descr="A graph with red line&#10;&#10;AI-generated content may be incorrect.">
            <a:extLst>
              <a:ext uri="{FF2B5EF4-FFF2-40B4-BE49-F238E27FC236}">
                <a16:creationId xmlns:a16="http://schemas.microsoft.com/office/drawing/2014/main" id="{D8990FAF-FCB8-D62E-3B44-34AB480B3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239" y="250791"/>
            <a:ext cx="9635613" cy="4868209"/>
          </a:xfrm>
          <a:prstGeom prst="rect">
            <a:avLst/>
          </a:prstGeom>
        </p:spPr>
      </p:pic>
    </p:spTree>
    <p:extLst>
      <p:ext uri="{BB962C8B-B14F-4D97-AF65-F5344CB8AC3E}">
        <p14:creationId xmlns:p14="http://schemas.microsoft.com/office/powerpoint/2010/main" val="3889310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different colored lines&#10;&#10;AI-generated content may be incorrect.">
            <a:extLst>
              <a:ext uri="{FF2B5EF4-FFF2-40B4-BE49-F238E27FC236}">
                <a16:creationId xmlns:a16="http://schemas.microsoft.com/office/drawing/2014/main" id="{1C242038-9217-E9D0-45AC-DA93A0B873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290" y="269251"/>
            <a:ext cx="9952174" cy="4972326"/>
          </a:xfrm>
          <a:prstGeom prst="rect">
            <a:avLst/>
          </a:prstGeom>
        </p:spPr>
      </p:pic>
      <p:sp>
        <p:nvSpPr>
          <p:cNvPr id="4" name="TextBox 3">
            <a:extLst>
              <a:ext uri="{FF2B5EF4-FFF2-40B4-BE49-F238E27FC236}">
                <a16:creationId xmlns:a16="http://schemas.microsoft.com/office/drawing/2014/main" id="{FCB1E615-52B1-0236-3E57-8A83B8C82560}"/>
              </a:ext>
            </a:extLst>
          </p:cNvPr>
          <p:cNvSpPr txBox="1"/>
          <p:nvPr/>
        </p:nvSpPr>
        <p:spPr>
          <a:xfrm>
            <a:off x="1040290" y="5742039"/>
            <a:ext cx="9788257" cy="523220"/>
          </a:xfrm>
          <a:prstGeom prst="rect">
            <a:avLst/>
          </a:prstGeom>
          <a:noFill/>
        </p:spPr>
        <p:txBody>
          <a:bodyPr wrap="none" rtlCol="0">
            <a:spAutoFit/>
          </a:bodyPr>
          <a:lstStyle/>
          <a:p>
            <a:r>
              <a:rPr lang="en-US" sz="1400" dirty="0"/>
              <a:t>Most of the appointments are conducted in face -2 –face mode, with “Phone appointments on the 2</a:t>
            </a:r>
            <a:r>
              <a:rPr lang="en-US" sz="1400" baseline="30000" dirty="0"/>
              <a:t>nd</a:t>
            </a:r>
            <a:r>
              <a:rPr lang="en-US" sz="1400" dirty="0"/>
              <a:t> place. </a:t>
            </a:r>
          </a:p>
          <a:p>
            <a:r>
              <a:rPr lang="en-US" sz="1400" dirty="0"/>
              <a:t>Video / Online and Home Visits are the most unpopular modes</a:t>
            </a:r>
          </a:p>
        </p:txBody>
      </p:sp>
    </p:spTree>
    <p:extLst>
      <p:ext uri="{BB962C8B-B14F-4D97-AF65-F5344CB8AC3E}">
        <p14:creationId xmlns:p14="http://schemas.microsoft.com/office/powerpoint/2010/main" val="1886532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different colored lines&#10;&#10;AI-generated content may be incorrect.">
            <a:extLst>
              <a:ext uri="{FF2B5EF4-FFF2-40B4-BE49-F238E27FC236}">
                <a16:creationId xmlns:a16="http://schemas.microsoft.com/office/drawing/2014/main" id="{9750F466-6DB4-56A2-F74E-B42800A3E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865" y="255639"/>
            <a:ext cx="8848270" cy="5001981"/>
          </a:xfrm>
          <a:prstGeom prst="rect">
            <a:avLst/>
          </a:prstGeom>
        </p:spPr>
      </p:pic>
      <p:sp>
        <p:nvSpPr>
          <p:cNvPr id="4" name="TextBox 3">
            <a:extLst>
              <a:ext uri="{FF2B5EF4-FFF2-40B4-BE49-F238E27FC236}">
                <a16:creationId xmlns:a16="http://schemas.microsoft.com/office/drawing/2014/main" id="{3B50AD4D-DCF6-551A-9976-5DD621924340}"/>
              </a:ext>
            </a:extLst>
          </p:cNvPr>
          <p:cNvSpPr txBox="1"/>
          <p:nvPr/>
        </p:nvSpPr>
        <p:spPr>
          <a:xfrm>
            <a:off x="648928" y="5466735"/>
            <a:ext cx="9960077" cy="784189"/>
          </a:xfrm>
          <a:prstGeom prst="rect">
            <a:avLst/>
          </a:prstGeom>
          <a:noFill/>
        </p:spPr>
        <p:txBody>
          <a:bodyPr wrap="square" rtlCol="0">
            <a:spAutoFit/>
          </a:bodyPr>
          <a:lstStyle/>
          <a:p>
            <a:pPr>
              <a:lnSpc>
                <a:spcPct val="150000"/>
              </a:lnSpc>
            </a:pPr>
            <a:r>
              <a:rPr lang="en-US" sz="1600" dirty="0"/>
              <a:t>‘</a:t>
            </a:r>
            <a:r>
              <a:rPr lang="en-US" sz="1600" b="1" dirty="0"/>
              <a:t>Same day</a:t>
            </a:r>
            <a:r>
              <a:rPr lang="en-US" sz="1600" dirty="0"/>
              <a:t>’ appointments prevail significantly. </a:t>
            </a:r>
            <a:br>
              <a:rPr lang="en-US" sz="1600" dirty="0"/>
            </a:br>
            <a:r>
              <a:rPr lang="en-US" sz="1600" dirty="0"/>
              <a:t>Then come </a:t>
            </a:r>
            <a:r>
              <a:rPr lang="en-US" sz="1600" b="1" dirty="0"/>
              <a:t>2-7 days </a:t>
            </a:r>
            <a:r>
              <a:rPr lang="en-US" sz="1600" dirty="0"/>
              <a:t>and </a:t>
            </a:r>
            <a:r>
              <a:rPr lang="en-US" sz="1600" b="1" dirty="0"/>
              <a:t>8-14</a:t>
            </a:r>
            <a:r>
              <a:rPr lang="en-US" sz="1600" dirty="0"/>
              <a:t> days respectively</a:t>
            </a:r>
          </a:p>
        </p:txBody>
      </p:sp>
    </p:spTree>
    <p:extLst>
      <p:ext uri="{BB962C8B-B14F-4D97-AF65-F5344CB8AC3E}">
        <p14:creationId xmlns:p14="http://schemas.microsoft.com/office/powerpoint/2010/main" val="1107762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03E36-7810-33F2-BEF2-FE2619DE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38F39-5F71-0D91-4DFB-708663491C35}"/>
              </a:ext>
            </a:extLst>
          </p:cNvPr>
          <p:cNvSpPr>
            <a:spLocks noGrp="1"/>
          </p:cNvSpPr>
          <p:nvPr>
            <p:ph type="title"/>
          </p:nvPr>
        </p:nvSpPr>
        <p:spPr>
          <a:xfrm>
            <a:off x="1066800" y="642594"/>
            <a:ext cx="10058400" cy="861741"/>
          </a:xfrm>
        </p:spPr>
        <p:txBody>
          <a:bodyPr>
            <a:normAutofit/>
          </a:bodyPr>
          <a:lstStyle/>
          <a:p>
            <a:r>
              <a:rPr lang="en-US" sz="2800" dirty="0"/>
              <a:t>Key Highlights on Appointment Attendance</a:t>
            </a:r>
          </a:p>
        </p:txBody>
      </p:sp>
      <p:sp>
        <p:nvSpPr>
          <p:cNvPr id="3" name="TextBox 2">
            <a:extLst>
              <a:ext uri="{FF2B5EF4-FFF2-40B4-BE49-F238E27FC236}">
                <a16:creationId xmlns:a16="http://schemas.microsoft.com/office/drawing/2014/main" id="{DBB78259-C693-6C45-2628-2E00A01CE365}"/>
              </a:ext>
            </a:extLst>
          </p:cNvPr>
          <p:cNvSpPr txBox="1"/>
          <p:nvPr/>
        </p:nvSpPr>
        <p:spPr>
          <a:xfrm>
            <a:off x="993058" y="1799303"/>
            <a:ext cx="7298793" cy="2031325"/>
          </a:xfrm>
          <a:prstGeom prst="rect">
            <a:avLst/>
          </a:prstGeom>
        </p:spPr>
        <p:style>
          <a:lnRef idx="0">
            <a:scrgbClr r="0" g="0" b="0"/>
          </a:lnRef>
          <a:fillRef idx="1002">
            <a:schemeClr val="lt2"/>
          </a:fillRef>
          <a:effectRef idx="0">
            <a:scrgbClr r="0" g="0" b="0"/>
          </a:effectRef>
          <a:fontRef idx="major"/>
        </p:style>
        <p:txBody>
          <a:bodyPr wrap="none" rtlCol="0">
            <a:spAutoFit/>
          </a:bodyPr>
          <a:lstStyle/>
          <a:p>
            <a:pPr marL="285750" indent="-285750">
              <a:lnSpc>
                <a:spcPct val="200000"/>
              </a:lnSpc>
              <a:buFont typeface="Century Gothic" panose="020B0502020202020204" pitchFamily="34" charset="0"/>
              <a:buChar char="•"/>
            </a:pPr>
            <a:r>
              <a:rPr lang="en-US" dirty="0"/>
              <a:t>Face-2-face, same day appointments are the most popular .</a:t>
            </a:r>
          </a:p>
          <a:p>
            <a:pPr marL="285750" indent="-285750">
              <a:lnSpc>
                <a:spcPct val="200000"/>
              </a:lnSpc>
              <a:buFont typeface="Century Gothic" panose="020B0502020202020204" pitchFamily="34" charset="0"/>
              <a:buChar char="•"/>
            </a:pPr>
            <a:r>
              <a:rPr lang="en-US" dirty="0"/>
              <a:t>The overall trend with total amount of appointments remains.</a:t>
            </a:r>
          </a:p>
          <a:p>
            <a:pPr marL="285750" indent="-285750">
              <a:lnSpc>
                <a:spcPct val="200000"/>
              </a:lnSpc>
              <a:buFont typeface="Century Gothic" panose="020B0502020202020204" pitchFamily="34" charset="0"/>
              <a:buChar char="•"/>
            </a:pPr>
            <a:r>
              <a:rPr lang="en-US" dirty="0"/>
              <a:t>Online &amp; Phone call appointments are the least popular. </a:t>
            </a:r>
          </a:p>
          <a:p>
            <a:pPr marL="285750" indent="-285750">
              <a:buFont typeface="Century Gothic" panose="020B0502020202020204" pitchFamily="34" charset="0"/>
              <a:buChar char="•"/>
            </a:pPr>
            <a:endParaRPr lang="en-US" dirty="0"/>
          </a:p>
        </p:txBody>
      </p:sp>
    </p:spTree>
    <p:extLst>
      <p:ext uri="{BB962C8B-B14F-4D97-AF65-F5344CB8AC3E}">
        <p14:creationId xmlns:p14="http://schemas.microsoft.com/office/powerpoint/2010/main" val="1348004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2C9F0CC-9F30-4B99-AC35-5A6C416A0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en-US"/>
          </a:p>
        </p:txBody>
      </p:sp>
      <p:sp>
        <p:nvSpPr>
          <p:cNvPr id="2" name="Title 1">
            <a:extLst>
              <a:ext uri="{FF2B5EF4-FFF2-40B4-BE49-F238E27FC236}">
                <a16:creationId xmlns:a16="http://schemas.microsoft.com/office/drawing/2014/main" id="{01C9447C-F8F7-402C-04DE-0EE91CF5DC7B}"/>
              </a:ext>
            </a:extLst>
          </p:cNvPr>
          <p:cNvSpPr>
            <a:spLocks noGrp="1"/>
          </p:cNvSpPr>
          <p:nvPr>
            <p:ph type="title"/>
          </p:nvPr>
        </p:nvSpPr>
        <p:spPr>
          <a:xfrm>
            <a:off x="1066800" y="642594"/>
            <a:ext cx="10058400" cy="1371600"/>
          </a:xfrm>
        </p:spPr>
        <p:txBody>
          <a:bodyPr vert="horz" lIns="91440" tIns="45720" rIns="91440" bIns="45720" rtlCol="0" anchor="ctr">
            <a:normAutofit/>
          </a:bodyPr>
          <a:lstStyle/>
          <a:p>
            <a:pPr algn="ctr"/>
            <a:r>
              <a:rPr lang="en-US" sz="4400"/>
              <a:t>Missed (‘DNA’) Appointments Overview</a:t>
            </a:r>
          </a:p>
        </p:txBody>
      </p:sp>
      <p:graphicFrame>
        <p:nvGraphicFramePr>
          <p:cNvPr id="6" name="TextBox 3">
            <a:extLst>
              <a:ext uri="{FF2B5EF4-FFF2-40B4-BE49-F238E27FC236}">
                <a16:creationId xmlns:a16="http://schemas.microsoft.com/office/drawing/2014/main" id="{5355F513-5685-06F4-899E-11850BF10108}"/>
              </a:ext>
            </a:extLst>
          </p:cNvPr>
          <p:cNvGraphicFramePr/>
          <p:nvPr>
            <p:extLst>
              <p:ext uri="{D42A27DB-BD31-4B8C-83A1-F6EECF244321}">
                <p14:modId xmlns:p14="http://schemas.microsoft.com/office/powerpoint/2010/main" val="139326502"/>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9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different colored lines&#10;&#10;AI-generated content may be incorrect.">
            <a:extLst>
              <a:ext uri="{FF2B5EF4-FFF2-40B4-BE49-F238E27FC236}">
                <a16:creationId xmlns:a16="http://schemas.microsoft.com/office/drawing/2014/main" id="{83A8ED18-8213-3A30-4BD1-FBDFEC9EA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30" y="816077"/>
            <a:ext cx="5728355" cy="1976283"/>
          </a:xfrm>
          <a:prstGeom prst="rect">
            <a:avLst/>
          </a:prstGeom>
        </p:spPr>
      </p:pic>
      <p:pic>
        <p:nvPicPr>
          <p:cNvPr id="6" name="Picture 5" descr="A graph of a line&#10;&#10;AI-generated content may be incorrect.">
            <a:extLst>
              <a:ext uri="{FF2B5EF4-FFF2-40B4-BE49-F238E27FC236}">
                <a16:creationId xmlns:a16="http://schemas.microsoft.com/office/drawing/2014/main" id="{41EE5F67-7EB0-EEE2-0C35-B5196DC94D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97" y="3913240"/>
            <a:ext cx="5796810" cy="1985407"/>
          </a:xfrm>
          <a:prstGeom prst="rect">
            <a:avLst/>
          </a:prstGeom>
        </p:spPr>
      </p:pic>
      <p:sp>
        <p:nvSpPr>
          <p:cNvPr id="13" name="Rectangle 12">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showing different colored lines&#10;&#10;AI-generated content may be incorrect.">
            <a:extLst>
              <a:ext uri="{FF2B5EF4-FFF2-40B4-BE49-F238E27FC236}">
                <a16:creationId xmlns:a16="http://schemas.microsoft.com/office/drawing/2014/main" id="{28934546-D98E-7BC5-75B4-7D1485A66B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1719" y="2330246"/>
            <a:ext cx="5882323" cy="2029402"/>
          </a:xfrm>
          <a:prstGeom prst="rect">
            <a:avLst/>
          </a:prstGeom>
        </p:spPr>
      </p:pic>
    </p:spTree>
    <p:extLst>
      <p:ext uri="{BB962C8B-B14F-4D97-AF65-F5344CB8AC3E}">
        <p14:creationId xmlns:p14="http://schemas.microsoft.com/office/powerpoint/2010/main" val="1828667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99A7B-5895-9A21-C210-0DED5290B944}"/>
              </a:ext>
            </a:extLst>
          </p:cNvPr>
          <p:cNvSpPr>
            <a:spLocks noGrp="1"/>
          </p:cNvSpPr>
          <p:nvPr>
            <p:ph type="title"/>
          </p:nvPr>
        </p:nvSpPr>
        <p:spPr>
          <a:xfrm>
            <a:off x="1066800" y="642594"/>
            <a:ext cx="10058400" cy="812580"/>
          </a:xfrm>
        </p:spPr>
        <p:txBody>
          <a:bodyPr>
            <a:normAutofit/>
          </a:bodyPr>
          <a:lstStyle/>
          <a:p>
            <a:pPr algn="ctr"/>
            <a:r>
              <a:rPr lang="en-US" sz="3600" dirty="0"/>
              <a:t>Quick Cost Overview</a:t>
            </a:r>
          </a:p>
        </p:txBody>
      </p:sp>
      <p:graphicFrame>
        <p:nvGraphicFramePr>
          <p:cNvPr id="3" name="Table 2">
            <a:extLst>
              <a:ext uri="{FF2B5EF4-FFF2-40B4-BE49-F238E27FC236}">
                <a16:creationId xmlns:a16="http://schemas.microsoft.com/office/drawing/2014/main" id="{DB1FD62B-B500-FC49-7841-4843A761ECC3}"/>
              </a:ext>
            </a:extLst>
          </p:cNvPr>
          <p:cNvGraphicFramePr>
            <a:graphicFrameLocks noGrp="1"/>
          </p:cNvGraphicFramePr>
          <p:nvPr>
            <p:extLst>
              <p:ext uri="{D42A27DB-BD31-4B8C-83A1-F6EECF244321}">
                <p14:modId xmlns:p14="http://schemas.microsoft.com/office/powerpoint/2010/main" val="1918181355"/>
              </p:ext>
            </p:extLst>
          </p:nvPr>
        </p:nvGraphicFramePr>
        <p:xfrm>
          <a:off x="1638709" y="1455174"/>
          <a:ext cx="6242560" cy="2278536"/>
        </p:xfrm>
        <a:graphic>
          <a:graphicData uri="http://schemas.openxmlformats.org/drawingml/2006/table">
            <a:tbl>
              <a:tblPr firstRow="1" bandRow="1">
                <a:tableStyleId>{5C22544A-7EE6-4342-B048-85BDC9FD1C3A}</a:tableStyleId>
              </a:tblPr>
              <a:tblGrid>
                <a:gridCol w="3121280">
                  <a:extLst>
                    <a:ext uri="{9D8B030D-6E8A-4147-A177-3AD203B41FA5}">
                      <a16:colId xmlns:a16="http://schemas.microsoft.com/office/drawing/2014/main" val="3086169015"/>
                    </a:ext>
                  </a:extLst>
                </a:gridCol>
                <a:gridCol w="3121280">
                  <a:extLst>
                    <a:ext uri="{9D8B030D-6E8A-4147-A177-3AD203B41FA5}">
                      <a16:colId xmlns:a16="http://schemas.microsoft.com/office/drawing/2014/main" val="2911227549"/>
                    </a:ext>
                  </a:extLst>
                </a:gridCol>
              </a:tblGrid>
              <a:tr h="569634">
                <a:tc>
                  <a:txBody>
                    <a:bodyPr/>
                    <a:lstStyle/>
                    <a:p>
                      <a:pPr algn="ctr" fontAlgn="ctr">
                        <a:buNone/>
                      </a:pPr>
                      <a:r>
                        <a:rPr lang="en-US" sz="1800" b="1" dirty="0">
                          <a:solidFill>
                            <a:srgbClr val="000000"/>
                          </a:solidFill>
                          <a:effectLst/>
                        </a:rPr>
                        <a:t>HCP Type</a:t>
                      </a:r>
                    </a:p>
                  </a:txBody>
                  <a:tcPr marL="140458" marR="140458" marT="70229" marB="70229" anchor="ctr"/>
                </a:tc>
                <a:tc>
                  <a:txBody>
                    <a:bodyPr/>
                    <a:lstStyle/>
                    <a:p>
                      <a:pPr algn="ctr" fontAlgn="ctr">
                        <a:buNone/>
                      </a:pPr>
                      <a:r>
                        <a:rPr lang="en-US" sz="1800" b="1" dirty="0">
                          <a:solidFill>
                            <a:srgbClr val="000000"/>
                          </a:solidFill>
                          <a:effectLst/>
                        </a:rPr>
                        <a:t>Count of Appointments</a:t>
                      </a:r>
                    </a:p>
                  </a:txBody>
                  <a:tcPr marL="140458" marR="140458" marT="70229" marB="70229" anchor="ctr"/>
                </a:tc>
                <a:extLst>
                  <a:ext uri="{0D108BD9-81ED-4DB2-BD59-A6C34878D82A}">
                    <a16:rowId xmlns:a16="http://schemas.microsoft.com/office/drawing/2014/main" val="202303674"/>
                  </a:ext>
                </a:extLst>
              </a:tr>
              <a:tr h="569634">
                <a:tc>
                  <a:txBody>
                    <a:bodyPr/>
                    <a:lstStyle/>
                    <a:p>
                      <a:pPr algn="r" fontAlgn="ctr">
                        <a:buNone/>
                      </a:pPr>
                      <a:r>
                        <a:rPr lang="en-US" dirty="0">
                          <a:solidFill>
                            <a:srgbClr val="000000"/>
                          </a:solidFill>
                          <a:effectLst/>
                        </a:rPr>
                        <a:t>GP</a:t>
                      </a:r>
                    </a:p>
                  </a:txBody>
                  <a:tcPr anchor="ctr"/>
                </a:tc>
                <a:tc>
                  <a:txBody>
                    <a:bodyPr/>
                    <a:lstStyle/>
                    <a:p>
                      <a:pPr algn="r" fontAlgn="ctr">
                        <a:buNone/>
                      </a:pPr>
                      <a:r>
                        <a:rPr lang="en-US" dirty="0">
                          <a:solidFill>
                            <a:srgbClr val="000000"/>
                          </a:solidFill>
                          <a:effectLst/>
                        </a:rPr>
                        <a:t>3845356</a:t>
                      </a:r>
                    </a:p>
                  </a:txBody>
                  <a:tcPr anchor="ctr"/>
                </a:tc>
                <a:extLst>
                  <a:ext uri="{0D108BD9-81ED-4DB2-BD59-A6C34878D82A}">
                    <a16:rowId xmlns:a16="http://schemas.microsoft.com/office/drawing/2014/main" val="1705359972"/>
                  </a:ext>
                </a:extLst>
              </a:tr>
              <a:tr h="569634">
                <a:tc>
                  <a:txBody>
                    <a:bodyPr/>
                    <a:lstStyle/>
                    <a:p>
                      <a:pPr algn="r" fontAlgn="ctr">
                        <a:buNone/>
                      </a:pPr>
                      <a:r>
                        <a:rPr lang="en-US" dirty="0">
                          <a:solidFill>
                            <a:srgbClr val="000000"/>
                          </a:solidFill>
                          <a:effectLst/>
                        </a:rPr>
                        <a:t>Other Practice staff</a:t>
                      </a:r>
                    </a:p>
                  </a:txBody>
                  <a:tcPr anchor="ctr"/>
                </a:tc>
                <a:tc>
                  <a:txBody>
                    <a:bodyPr/>
                    <a:lstStyle/>
                    <a:p>
                      <a:pPr algn="r" fontAlgn="ctr">
                        <a:buNone/>
                      </a:pPr>
                      <a:r>
                        <a:rPr lang="en-US" dirty="0">
                          <a:solidFill>
                            <a:srgbClr val="000000"/>
                          </a:solidFill>
                          <a:effectLst/>
                        </a:rPr>
                        <a:t>9197617</a:t>
                      </a:r>
                    </a:p>
                  </a:txBody>
                  <a:tcPr anchor="ctr"/>
                </a:tc>
                <a:extLst>
                  <a:ext uri="{0D108BD9-81ED-4DB2-BD59-A6C34878D82A}">
                    <a16:rowId xmlns:a16="http://schemas.microsoft.com/office/drawing/2014/main" val="2393178171"/>
                  </a:ext>
                </a:extLst>
              </a:tr>
              <a:tr h="569634">
                <a:tc>
                  <a:txBody>
                    <a:bodyPr/>
                    <a:lstStyle/>
                    <a:p>
                      <a:pPr algn="r" fontAlgn="ctr">
                        <a:buNone/>
                      </a:pPr>
                      <a:r>
                        <a:rPr lang="en-US" dirty="0">
                          <a:solidFill>
                            <a:srgbClr val="000000"/>
                          </a:solidFill>
                          <a:effectLst/>
                        </a:rPr>
                        <a:t>Unknown</a:t>
                      </a:r>
                    </a:p>
                  </a:txBody>
                  <a:tcPr anchor="ctr"/>
                </a:tc>
                <a:tc>
                  <a:txBody>
                    <a:bodyPr/>
                    <a:lstStyle/>
                    <a:p>
                      <a:pPr algn="r" fontAlgn="ctr">
                        <a:buNone/>
                      </a:pPr>
                      <a:r>
                        <a:rPr lang="en-US" dirty="0">
                          <a:solidFill>
                            <a:srgbClr val="000000"/>
                          </a:solidFill>
                          <a:effectLst/>
                        </a:rPr>
                        <a:t>275411</a:t>
                      </a:r>
                    </a:p>
                  </a:txBody>
                  <a:tcPr anchor="ctr"/>
                </a:tc>
                <a:extLst>
                  <a:ext uri="{0D108BD9-81ED-4DB2-BD59-A6C34878D82A}">
                    <a16:rowId xmlns:a16="http://schemas.microsoft.com/office/drawing/2014/main" val="1864210582"/>
                  </a:ext>
                </a:extLst>
              </a:tr>
            </a:tbl>
          </a:graphicData>
        </a:graphic>
      </p:graphicFrame>
      <p:sp>
        <p:nvSpPr>
          <p:cNvPr id="4" name="TextBox 3">
            <a:extLst>
              <a:ext uri="{FF2B5EF4-FFF2-40B4-BE49-F238E27FC236}">
                <a16:creationId xmlns:a16="http://schemas.microsoft.com/office/drawing/2014/main" id="{25D42479-BD4B-EDAB-8197-511C4C7B5114}"/>
              </a:ext>
            </a:extLst>
          </p:cNvPr>
          <p:cNvSpPr txBox="1"/>
          <p:nvPr/>
        </p:nvSpPr>
        <p:spPr>
          <a:xfrm>
            <a:off x="1638709" y="4069236"/>
            <a:ext cx="10058400" cy="954107"/>
          </a:xfrm>
          <a:prstGeom prst="rect">
            <a:avLst/>
          </a:prstGeom>
          <a:noFill/>
        </p:spPr>
        <p:txBody>
          <a:bodyPr wrap="square" rtlCol="0">
            <a:spAutoFit/>
          </a:bodyPr>
          <a:lstStyle/>
          <a:p>
            <a:r>
              <a:rPr lang="en-US" sz="1400" dirty="0"/>
              <a:t>Let's assume that NHS loses ~ £35 per missed GP appointment and around £165 per hospital </a:t>
            </a:r>
          </a:p>
          <a:p>
            <a:r>
              <a:rPr lang="en-US" sz="1400" dirty="0"/>
              <a:t>outpatient appointment. Since we don't have clear data on whether some of the missed </a:t>
            </a:r>
          </a:p>
          <a:p>
            <a:r>
              <a:rPr lang="en-US" sz="1400" dirty="0"/>
              <a:t>appointments are related to the hospital outpatient ones, I will use the average number</a:t>
            </a:r>
          </a:p>
          <a:p>
            <a:r>
              <a:rPr lang="en-US" sz="1400" dirty="0">
                <a:hlinkClick r:id="rId2"/>
              </a:rPr>
              <a:t>provided by NHS</a:t>
            </a:r>
            <a:endParaRPr lang="en-US" sz="1400" dirty="0"/>
          </a:p>
        </p:txBody>
      </p:sp>
      <p:sp>
        <p:nvSpPr>
          <p:cNvPr id="6" name="TextBox 5">
            <a:extLst>
              <a:ext uri="{FF2B5EF4-FFF2-40B4-BE49-F238E27FC236}">
                <a16:creationId xmlns:a16="http://schemas.microsoft.com/office/drawing/2014/main" id="{64CF5084-8DC1-78CB-BDA9-6BD942D2FCD5}"/>
              </a:ext>
            </a:extLst>
          </p:cNvPr>
          <p:cNvSpPr txBox="1"/>
          <p:nvPr/>
        </p:nvSpPr>
        <p:spPr>
          <a:xfrm>
            <a:off x="1638709" y="5218160"/>
            <a:ext cx="7319632" cy="369332"/>
          </a:xfrm>
          <a:prstGeom prst="rect">
            <a:avLst/>
          </a:prstGeom>
          <a:noFill/>
        </p:spPr>
        <p:txBody>
          <a:bodyPr wrap="none" rtlCol="0">
            <a:spAutoFit/>
          </a:bodyPr>
          <a:lstStyle/>
          <a:p>
            <a:r>
              <a:rPr lang="en-US" dirty="0"/>
              <a:t>Total loss is around : </a:t>
            </a:r>
            <a:r>
              <a:rPr lang="en-US" u="sng" spc="300" dirty="0"/>
              <a:t>399,551,520 £</a:t>
            </a:r>
            <a:r>
              <a:rPr lang="en-US" dirty="0"/>
              <a:t> from Aug 2021 to Jul 2022</a:t>
            </a:r>
          </a:p>
        </p:txBody>
      </p:sp>
    </p:spTree>
    <p:extLst>
      <p:ext uri="{BB962C8B-B14F-4D97-AF65-F5344CB8AC3E}">
        <p14:creationId xmlns:p14="http://schemas.microsoft.com/office/powerpoint/2010/main" val="271637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43A4-4308-9DF7-4CE4-6D87748E3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1A9B3-13C2-9A2F-B33E-0E93075C3408}"/>
              </a:ext>
            </a:extLst>
          </p:cNvPr>
          <p:cNvSpPr>
            <a:spLocks noGrp="1"/>
          </p:cNvSpPr>
          <p:nvPr>
            <p:ph type="title"/>
          </p:nvPr>
        </p:nvSpPr>
        <p:spPr>
          <a:xfrm>
            <a:off x="1066800" y="642594"/>
            <a:ext cx="10058400" cy="861741"/>
          </a:xfrm>
        </p:spPr>
        <p:txBody>
          <a:bodyPr>
            <a:normAutofit/>
          </a:bodyPr>
          <a:lstStyle/>
          <a:p>
            <a:r>
              <a:rPr lang="en-US" sz="2800" dirty="0"/>
              <a:t>Key Highlights on capacity</a:t>
            </a:r>
          </a:p>
        </p:txBody>
      </p:sp>
      <p:sp>
        <p:nvSpPr>
          <p:cNvPr id="3" name="TextBox 2">
            <a:extLst>
              <a:ext uri="{FF2B5EF4-FFF2-40B4-BE49-F238E27FC236}">
                <a16:creationId xmlns:a16="http://schemas.microsoft.com/office/drawing/2014/main" id="{BBDF2642-8409-CA54-CE52-16E59CABA6B6}"/>
              </a:ext>
            </a:extLst>
          </p:cNvPr>
          <p:cNvSpPr txBox="1"/>
          <p:nvPr/>
        </p:nvSpPr>
        <p:spPr>
          <a:xfrm>
            <a:off x="993058" y="1799303"/>
            <a:ext cx="10854813" cy="3631763"/>
          </a:xfrm>
          <a:prstGeom prst="rect">
            <a:avLst/>
          </a:prstGeom>
        </p:spPr>
        <p:style>
          <a:lnRef idx="0">
            <a:scrgbClr r="0" g="0" b="0"/>
          </a:lnRef>
          <a:fillRef idx="1002">
            <a:schemeClr val="lt2"/>
          </a:fillRef>
          <a:effectRef idx="0">
            <a:scrgbClr r="0" g="0" b="0"/>
          </a:effectRef>
          <a:fontRef idx="major"/>
        </p:style>
        <p:txBody>
          <a:bodyPr wrap="square" rtlCol="0">
            <a:spAutoFit/>
          </a:bodyPr>
          <a:lstStyle/>
          <a:p>
            <a:pPr marL="285750" indent="-285750">
              <a:lnSpc>
                <a:spcPct val="200000"/>
              </a:lnSpc>
              <a:buFont typeface="Century Gothic" panose="020B0502020202020204" pitchFamily="34" charset="0"/>
              <a:buChar char="•"/>
            </a:pPr>
            <a:r>
              <a:rPr lang="en-US" dirty="0"/>
              <a:t> </a:t>
            </a:r>
            <a:r>
              <a:rPr lang="en-US" sz="1600" dirty="0"/>
              <a:t>People are tend to skip ‘Other Practice Staff’ appointments. Missed GP appointments rate is ~ 2.5 times lower</a:t>
            </a:r>
          </a:p>
          <a:p>
            <a:pPr marL="285750" indent="-285750">
              <a:lnSpc>
                <a:spcPct val="200000"/>
              </a:lnSpc>
              <a:buFont typeface="Century Gothic" panose="020B0502020202020204" pitchFamily="34" charset="0"/>
              <a:buChar char="•"/>
            </a:pPr>
            <a:r>
              <a:rPr lang="en-US" dirty="0"/>
              <a:t>The most “popular” mode is face-2face, followed by phone appointment mode. People are less tend to skip video calls and home visits. </a:t>
            </a:r>
          </a:p>
          <a:p>
            <a:pPr marL="285750" indent="-285750">
              <a:lnSpc>
                <a:spcPct val="200000"/>
              </a:lnSpc>
              <a:buFont typeface="Century Gothic" panose="020B0502020202020204" pitchFamily="34" charset="0"/>
              <a:buChar char="•"/>
            </a:pPr>
            <a:r>
              <a:rPr lang="en-US" dirty="0"/>
              <a:t>The most ‘distant’ appointments  (22-28 days, &gt;28 days) have the lowest DNA rate and this rate remains more or less even during the observation period</a:t>
            </a:r>
          </a:p>
          <a:p>
            <a:pPr marL="285750" indent="-285750">
              <a:buFont typeface="Century Gothic" panose="020B0502020202020204" pitchFamily="34" charset="0"/>
              <a:buChar char="•"/>
            </a:pPr>
            <a:endParaRPr lang="en-US" dirty="0"/>
          </a:p>
        </p:txBody>
      </p:sp>
    </p:spTree>
    <p:extLst>
      <p:ext uri="{BB962C8B-B14F-4D97-AF65-F5344CB8AC3E}">
        <p14:creationId xmlns:p14="http://schemas.microsoft.com/office/powerpoint/2010/main" val="821020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9263-08A3-A632-ABB2-BF0C3757813D}"/>
              </a:ext>
            </a:extLst>
          </p:cNvPr>
          <p:cNvSpPr>
            <a:spLocks noGrp="1"/>
          </p:cNvSpPr>
          <p:nvPr>
            <p:ph type="title"/>
          </p:nvPr>
        </p:nvSpPr>
        <p:spPr>
          <a:xfrm>
            <a:off x="3726426" y="285135"/>
            <a:ext cx="4178709" cy="370129"/>
          </a:xfrm>
        </p:spPr>
        <p:txBody>
          <a:bodyPr>
            <a:noAutofit/>
          </a:bodyPr>
          <a:lstStyle/>
          <a:p>
            <a:pPr algn="ctr"/>
            <a:r>
              <a:rPr lang="en-US" sz="2800" dirty="0"/>
              <a:t>Recommendations</a:t>
            </a:r>
          </a:p>
        </p:txBody>
      </p:sp>
      <p:sp>
        <p:nvSpPr>
          <p:cNvPr id="4" name="TextBox 3">
            <a:extLst>
              <a:ext uri="{FF2B5EF4-FFF2-40B4-BE49-F238E27FC236}">
                <a16:creationId xmlns:a16="http://schemas.microsoft.com/office/drawing/2014/main" id="{B22377FA-50FC-1B55-7125-054E1CF12AD9}"/>
              </a:ext>
            </a:extLst>
          </p:cNvPr>
          <p:cNvSpPr txBox="1"/>
          <p:nvPr/>
        </p:nvSpPr>
        <p:spPr>
          <a:xfrm>
            <a:off x="265471" y="1111046"/>
            <a:ext cx="11847871"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There is no need to hire additional staff as current amount of personnel seems adequate to fulfill the needs </a:t>
            </a:r>
          </a:p>
          <a:p>
            <a:pPr marL="285750" indent="-285750">
              <a:lnSpc>
                <a:spcPct val="150000"/>
              </a:lnSpc>
              <a:buFont typeface="Arial" panose="020B0604020202020204" pitchFamily="34" charset="0"/>
              <a:buChar char="•"/>
            </a:pPr>
            <a:r>
              <a:rPr lang="en-US" dirty="0"/>
              <a:t>Review the standards of collecting the data from GP practices. Currently there are many unmapped data in provided datasets. The cleaner the data, the better will be planning outcomes.</a:t>
            </a:r>
          </a:p>
          <a:p>
            <a:pPr marL="285750" indent="-285750">
              <a:lnSpc>
                <a:spcPct val="150000"/>
              </a:lnSpc>
              <a:buFont typeface="Arial" panose="020B0604020202020204" pitchFamily="34" charset="0"/>
              <a:buChar char="•"/>
            </a:pPr>
            <a:r>
              <a:rPr lang="en-US" dirty="0"/>
              <a:t>Utilize phone and video appointments more extensively as people seem to skip them less.</a:t>
            </a:r>
          </a:p>
          <a:p>
            <a:pPr marL="285750" indent="-285750">
              <a:lnSpc>
                <a:spcPct val="150000"/>
              </a:lnSpc>
              <a:buFont typeface="Arial" panose="020B0604020202020204" pitchFamily="34" charset="0"/>
              <a:buChar char="•"/>
            </a:pPr>
            <a:r>
              <a:rPr lang="en-US" dirty="0"/>
              <a:t>Balance the workload among GP Practices, if possible, to avoid overloading during the peak seasons.</a:t>
            </a:r>
          </a:p>
          <a:p>
            <a:pPr marL="285750" indent="-285750">
              <a:lnSpc>
                <a:spcPct val="150000"/>
              </a:lnSpc>
              <a:buFont typeface="Arial" panose="020B0604020202020204" pitchFamily="34" charset="0"/>
              <a:buChar char="•"/>
            </a:pPr>
            <a:r>
              <a:rPr lang="en-US" dirty="0"/>
              <a:t>Compare the expected and actual appointment duration, because this may affect workload planning.</a:t>
            </a:r>
          </a:p>
          <a:p>
            <a:pPr marL="285750" indent="-285750">
              <a:buFont typeface="Arial" panose="020B0604020202020204" pitchFamily="34" charset="0"/>
              <a:buChar char="•"/>
            </a:pPr>
            <a:r>
              <a:rPr lang="en-US" dirty="0"/>
              <a:t>Review the process of missed appointment handling. Probably, it could be enhanced so that these slots will be available for other people in the queue.</a:t>
            </a:r>
          </a:p>
          <a:p>
            <a:endParaRPr lang="en-US" dirty="0"/>
          </a:p>
        </p:txBody>
      </p:sp>
    </p:spTree>
    <p:extLst>
      <p:ext uri="{BB962C8B-B14F-4D97-AF65-F5344CB8AC3E}">
        <p14:creationId xmlns:p14="http://schemas.microsoft.com/office/powerpoint/2010/main" val="2186182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TM03457510[[fn=Savon]]</Template>
  <TotalTime>253</TotalTime>
  <Words>869</Words>
  <Application>Microsoft Office PowerPoint</Application>
  <PresentationFormat>Widescreen</PresentationFormat>
  <Paragraphs>81</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Century Gothic</vt:lpstr>
      <vt:lpstr>Courier New</vt:lpstr>
      <vt:lpstr>Garamond</vt:lpstr>
      <vt:lpstr>Savon</vt:lpstr>
      <vt:lpstr>NHS Data Analysis  by Dzmitry Brykach</vt:lpstr>
      <vt:lpstr>Overview</vt:lpstr>
      <vt:lpstr>PowerPoint Presentation</vt:lpstr>
      <vt:lpstr>Monthly appointments per Service Setting</vt:lpstr>
      <vt:lpstr>Monthly appointments per Context Type</vt:lpstr>
      <vt:lpstr>Monthly appointments per National Category</vt:lpstr>
      <vt:lpstr>PowerPoint Presentation</vt:lpstr>
      <vt:lpstr>Key Highlights on National Category</vt:lpstr>
      <vt:lpstr>NHS Appointment Capacity Projection</vt:lpstr>
      <vt:lpstr>Capacity Utilization (monthly vs. daily)</vt:lpstr>
      <vt:lpstr>Key Highlights on capacity</vt:lpstr>
      <vt:lpstr>PowerPoint Presentation</vt:lpstr>
      <vt:lpstr>PowerPoint Presentation</vt:lpstr>
      <vt:lpstr>PowerPoint Presentation</vt:lpstr>
      <vt:lpstr>Key Highlights on Appointment Attendance</vt:lpstr>
      <vt:lpstr>Missed (‘DNA’) Appointments Overview</vt:lpstr>
      <vt:lpstr>PowerPoint Presentation</vt:lpstr>
      <vt:lpstr>Quick Cost Overview</vt:lpstr>
      <vt:lpstr>Key Highlights on capacity</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Dima Brikach</dc:creator>
  <cp:lastModifiedBy>Dima Brikach</cp:lastModifiedBy>
  <cp:revision>3</cp:revision>
  <dcterms:created xsi:type="dcterms:W3CDTF">2025-08-10T20:11:37Z</dcterms:created>
  <dcterms:modified xsi:type="dcterms:W3CDTF">2025-08-11T00:31:57Z</dcterms:modified>
</cp:coreProperties>
</file>